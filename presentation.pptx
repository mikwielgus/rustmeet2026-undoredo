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gif" ContentType="image/gif"/>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9" Type="http://schemas.openxmlformats.org/officeDocument/2006/relationships/viewProps" Target="viewProps.xml" /><Relationship Id="rId38" Type="http://schemas.openxmlformats.org/officeDocument/2006/relationships/presProps" Target="presProps.xml" /><Relationship Id="rId1" Type="http://schemas.openxmlformats.org/officeDocument/2006/relationships/slideMaster" Target="slideMasters/slideMaster1.xml" /><Relationship Id="rId41" Type="http://schemas.openxmlformats.org/officeDocument/2006/relationships/tableStyles" Target="tableStyles.xml" /><Relationship Id="rId4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gif"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gif"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gif"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gif"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gif"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undoredo - Undo/Redo in Rust using deltas, snapshots or commands with convenience implementations for many standard and third-party types.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Mikołaj Wielgus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 I am</a:t>
            </a:r>
          </a:p>
        </p:txBody>
      </p:sp>
      <p:sp>
        <p:nvSpPr>
          <p:cNvPr id="3" name="Content Placeholder 2"/>
          <p:cNvSpPr>
            <a:spLocks noGrp="1"/>
          </p:cNvSpPr>
          <p:nvPr>
            <p:ph idx="1"/>
          </p:nvPr>
        </p:nvSpPr>
        <p:spPr/>
        <p:txBody>
          <a:bodyPr/>
          <a:lstStyle/>
          <a:p>
            <a:pPr lvl="0" indent="0" marL="0">
              <a:buNone/>
            </a:pPr>
            <a:r>
              <a:rPr/>
              <a:t>Mikołaj Wielgus</a:t>
            </a:r>
          </a:p>
          <a:p>
            <a:pPr lvl="0"/>
            <a:r>
              <a:rPr/>
              <a:t>Engineering degree in Microelectronics in Industry and Medicine (AGH University of Science and Technology).</a:t>
            </a:r>
          </a:p>
          <a:p>
            <a:pPr lvl="0"/>
            <a:r>
              <a:rPr/>
              <a:t>Worked in integrated circuit design company, Silicon Creations, as hardware verification engineer.</a:t>
            </a:r>
          </a:p>
          <a:p>
            <a:pPr lvl="0"/>
            <a:r>
              <a:rPr/>
              <a:t>Was lead development team (= core team) member of KiCad EDA.</a:t>
            </a:r>
          </a:p>
          <a:p>
            <a:pPr lvl="0"/>
            <a:r>
              <a:rPr/>
              <a:t>Currently full-time open-source software developer.</a:t>
            </a:r>
          </a:p>
          <a:p>
            <a:pPr lvl="0"/>
            <a:r>
              <a:rPr/>
              <a:t>I develop Topola, an autoplacer and autorouter for printed circuit boards (PCB).</a:t>
            </a:r>
          </a:p>
          <a:p>
            <a:pPr lvl="0" indent="0" marL="0">
              <a:buNone/>
            </a:pPr>
            <a:r>
              <a:rPr/>
              <a:t>Topola’s website: https://topola.dev/</a:t>
            </a:r>
          </a:p>
          <a:p>
            <a:pPr lvl="0" indent="0" marL="0">
              <a:buNone/>
            </a:pPr>
            <a:r>
              <a:rPr/>
              <a:t>What I will be presenting is a spin-off project from Topola.</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a:t>
            </a:r>
          </a:p>
        </p:txBody>
      </p:sp>
      <p:sp>
        <p:nvSpPr>
          <p:cNvPr id="3" name="Content Placeholder 2"/>
          <p:cNvSpPr>
            <a:spLocks noGrp="1"/>
          </p:cNvSpPr>
          <p:nvPr>
            <p:ph idx="1"/>
          </p:nvPr>
        </p:nvSpPr>
        <p:spPr/>
        <p:txBody>
          <a:bodyPr/>
          <a:lstStyle/>
          <a:p>
            <a:pPr lvl="0" indent="0" marL="0">
              <a:buNone/>
            </a:pPr>
            <a:r>
              <a:rPr/>
              <a:t>Undo/Redo is a design pattern that is ubiquitous in user interfaces of</a:t>
            </a:r>
          </a:p>
          <a:p>
            <a:pPr lvl="0"/>
            <a:r>
              <a:rPr/>
              <a:t>text editors,</a:t>
            </a:r>
          </a:p>
          <a:p>
            <a:pPr lvl="0"/>
            <a:r>
              <a:rPr/>
              <a:t>graphics editors,</a:t>
            </a:r>
          </a:p>
          <a:p>
            <a:pPr lvl="0"/>
            <a:r>
              <a:rPr/>
              <a:t>video editors,</a:t>
            </a:r>
          </a:p>
          <a:p>
            <a:pPr lvl="0"/>
            <a:r>
              <a:rPr/>
              <a:t>audio editors,</a:t>
            </a:r>
          </a:p>
          <a:p>
            <a:pPr lvl="0"/>
            <a:r>
              <a:rPr/>
              <a:t>spreadsheet software,</a:t>
            </a:r>
          </a:p>
          <a:p>
            <a:pPr lvl="0"/>
            <a:r>
              <a:rPr/>
              <a:t>Computer Aided Design (CAD) software,</a:t>
            </a:r>
          </a:p>
          <a:p>
            <a:pPr lvl="0"/>
            <a:r>
              <a:rPr/>
              <a:t>Electronics Design Automation (EDA) software.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Screenshots in the wild</a:t>
            </a:r>
          </a:p>
        </p:txBody>
      </p:sp>
      <p:sp>
        <p:nvSpPr>
          <p:cNvPr id="3" name="Content Placeholder 2"/>
          <p:cNvSpPr>
            <a:spLocks noGrp="1"/>
          </p:cNvSpPr>
          <p:nvPr>
            <p:ph idx="1"/>
          </p:nvPr>
        </p:nvSpPr>
        <p:spPr/>
        <p:txBody>
          <a:bodyPr/>
          <a:lstStyle/>
          <a:p>
            <a:pPr lvl="0" indent="0" marL="0">
              <a:buNone/>
            </a:pPr>
            <a:r>
              <a:rPr/>
              <a:t>Undo/Redo in GIMP:</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Screenshots in the wild</a:t>
            </a:r>
          </a:p>
        </p:txBody>
      </p:sp>
      <p:pic>
        <p:nvPicPr>
          <p:cNvPr descr="undo_redo_in_gimp.png" id="0" name="Picture 1"/>
          <p:cNvPicPr>
            <a:picLocks noGrp="1" noChangeAspect="1"/>
          </p:cNvPicPr>
          <p:nvPr/>
        </p:nvPicPr>
        <p:blipFill>
          <a:blip r:embed="rId2"/>
          <a:stretch>
            <a:fillRect/>
          </a:stretch>
        </p:blipFill>
        <p:spPr bwMode="auto">
          <a:xfrm>
            <a:off x="457200" y="1778000"/>
            <a:ext cx="8229600" cy="17272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undo_redo_in_gimp.png</a:t>
            </a:r>
          </a:p>
        </p:txBody>
      </p:sp>
      <p:sp>
        <p:nvSpPr>
          <p:cNvPr id="3" name="Content Placeholder 2"/>
          <p:cNvSpPr>
            <a:spLocks noGrp="1"/>
          </p:cNvSpPr>
          <p:nvPr>
            <p:ph idx="1"/>
          </p:nvPr>
        </p:nvSpPr>
        <p:spPr/>
        <p:txBody>
          <a:bodyPr/>
          <a:lstStyle/>
          <a:p>
            <a:pPr lvl="0" indent="0" marL="0">
              <a:buNone/>
            </a:pPr>
            <a:r>
              <a:rPr/>
              <a:t>Undo/Redo in Inkscape: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Screenshots in the wild</a:t>
            </a:r>
          </a:p>
        </p:txBody>
      </p:sp>
      <p:pic>
        <p:nvPicPr>
          <p:cNvPr descr="undo_redo_in_inkscape.png" id="0" name="Picture 1"/>
          <p:cNvPicPr>
            <a:picLocks noGrp="1" noChangeAspect="1"/>
          </p:cNvPicPr>
          <p:nvPr/>
        </p:nvPicPr>
        <p:blipFill>
          <a:blip r:embed="rId2"/>
          <a:stretch>
            <a:fillRect/>
          </a:stretch>
        </p:blipFill>
        <p:spPr bwMode="auto">
          <a:xfrm>
            <a:off x="457200" y="1854200"/>
            <a:ext cx="8229600" cy="15621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undo_redo_in_inkscape.png</a:t>
            </a:r>
          </a:p>
        </p:txBody>
      </p:sp>
      <p:sp>
        <p:nvSpPr>
          <p:cNvPr id="3" name="Content Placeholder 2"/>
          <p:cNvSpPr>
            <a:spLocks noGrp="1"/>
          </p:cNvSpPr>
          <p:nvPr>
            <p:ph idx="1"/>
          </p:nvPr>
        </p:nvSpPr>
        <p:spPr/>
        <p:txBody>
          <a:bodyPr/>
          <a:lstStyle/>
          <a:p>
            <a:pPr lvl="0" indent="0" marL="0">
              <a:buNone/>
            </a:pPr>
            <a:r>
              <a:rPr/>
              <a:t>Undo/Redo in LibreOffice Writer:</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Screenshots in the wild</a:t>
            </a:r>
          </a:p>
        </p:txBody>
      </p:sp>
      <p:pic>
        <p:nvPicPr>
          <p:cNvPr descr="undo_redo_in_libreoffice_writer.png" id="0" name="Picture 1"/>
          <p:cNvPicPr>
            <a:picLocks noGrp="1" noChangeAspect="1"/>
          </p:cNvPicPr>
          <p:nvPr/>
        </p:nvPicPr>
        <p:blipFill>
          <a:blip r:embed="rId2"/>
          <a:stretch>
            <a:fillRect/>
          </a:stretch>
        </p:blipFill>
        <p:spPr bwMode="auto">
          <a:xfrm>
            <a:off x="457200" y="2057400"/>
            <a:ext cx="8229600" cy="11557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undo_redo_in_libreoffice_writer.png</a:t>
            </a:r>
          </a:p>
        </p:txBody>
      </p:sp>
      <p:sp>
        <p:nvSpPr>
          <p:cNvPr id="3" name="Content Placeholder 2"/>
          <p:cNvSpPr>
            <a:spLocks noGrp="1"/>
          </p:cNvSpPr>
          <p:nvPr>
            <p:ph idx="1"/>
          </p:nvPr>
        </p:nvSpPr>
        <p:spPr/>
        <p:txBody>
          <a:bodyPr/>
          <a:lstStyle/>
          <a:p>
            <a:pPr lvl="0" indent="0" marL="0">
              <a:buNone/>
            </a:pPr>
            <a:r>
              <a:rPr/>
              <a:t>Undo/Redo in KiCad: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Screenshots in the wild</a:t>
            </a:r>
          </a:p>
        </p:txBody>
      </p:sp>
      <p:pic>
        <p:nvPicPr>
          <p:cNvPr descr="undo_redo_in_kicad.png" id="0" name="Picture 1"/>
          <p:cNvPicPr>
            <a:picLocks noGrp="1" noChangeAspect="1"/>
          </p:cNvPicPr>
          <p:nvPr/>
        </p:nvPicPr>
        <p:blipFill>
          <a:blip r:embed="rId2"/>
          <a:stretch>
            <a:fillRect/>
          </a:stretch>
        </p:blipFill>
        <p:spPr bwMode="auto">
          <a:xfrm>
            <a:off x="457200" y="2171700"/>
            <a:ext cx="8229600" cy="9398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undo_redo_in_kicad.png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Screenshots in the wild (2)</a:t>
            </a:r>
          </a:p>
        </p:txBody>
      </p:sp>
      <p:sp>
        <p:nvSpPr>
          <p:cNvPr id="3" name="Content Placeholder 2"/>
          <p:cNvSpPr>
            <a:spLocks noGrp="1"/>
          </p:cNvSpPr>
          <p:nvPr>
            <p:ph idx="1"/>
          </p:nvPr>
        </p:nvSpPr>
        <p:spPr/>
        <p:txBody>
          <a:bodyPr/>
          <a:lstStyle/>
          <a:p>
            <a:pPr lvl="0" indent="0" marL="0">
              <a:buNone/>
            </a:pPr>
            <a:r>
              <a:rPr/>
              <a:t>Undo/Redo in Blender:</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Screenshots in the wild (2)</a:t>
            </a:r>
          </a:p>
        </p:txBody>
      </p:sp>
      <p:pic>
        <p:nvPicPr>
          <p:cNvPr descr="undo_redo_in_blender.png" id="0" name="Picture 1"/>
          <p:cNvPicPr>
            <a:picLocks noGrp="1" noChangeAspect="1"/>
          </p:cNvPicPr>
          <p:nvPr/>
        </p:nvPicPr>
        <p:blipFill>
          <a:blip r:embed="rId2"/>
          <a:stretch>
            <a:fillRect/>
          </a:stretch>
        </p:blipFill>
        <p:spPr bwMode="auto">
          <a:xfrm>
            <a:off x="457200" y="1282700"/>
            <a:ext cx="8229600" cy="27051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undo_redo_in_blender.png</a:t>
            </a:r>
          </a:p>
        </p:txBody>
      </p:sp>
      <p:sp>
        <p:nvSpPr>
          <p:cNvPr id="3" name="Content Placeholder 2"/>
          <p:cNvSpPr>
            <a:spLocks noGrp="1"/>
          </p:cNvSpPr>
          <p:nvPr>
            <p:ph idx="1"/>
          </p:nvPr>
        </p:nvSpPr>
        <p:spPr/>
        <p:txBody>
          <a:bodyPr/>
          <a:lstStyle/>
          <a:p>
            <a:pPr lvl="0" indent="0" marL="0">
              <a:buNone/>
            </a:pPr>
            <a:r>
              <a:rPr/>
              <a:t>Undo/Redo in Krita:</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Screenshots in the wild (2)</a:t>
            </a:r>
          </a:p>
        </p:txBody>
      </p:sp>
      <p:pic>
        <p:nvPicPr>
          <p:cNvPr descr="undo_redo_in_krita.png" id="0" name="Picture 1"/>
          <p:cNvPicPr>
            <a:picLocks noGrp="1" noChangeAspect="1"/>
          </p:cNvPicPr>
          <p:nvPr/>
        </p:nvPicPr>
        <p:blipFill>
          <a:blip r:embed="rId2"/>
          <a:stretch>
            <a:fillRect/>
          </a:stretch>
        </p:blipFill>
        <p:spPr bwMode="auto">
          <a:xfrm>
            <a:off x="457200" y="1676400"/>
            <a:ext cx="8229600" cy="19050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undo_redo_in_krita.png</a:t>
            </a:r>
          </a:p>
        </p:txBody>
      </p:sp>
      <p:sp>
        <p:nvSpPr>
          <p:cNvPr id="3" name="Content Placeholder 2"/>
          <p:cNvSpPr>
            <a:spLocks noGrp="1"/>
          </p:cNvSpPr>
          <p:nvPr>
            <p:ph idx="1"/>
          </p:nvPr>
        </p:nvSpPr>
        <p:spPr/>
        <p:txBody>
          <a:bodyPr/>
          <a:lstStyle/>
          <a:p>
            <a:pPr lvl="0" indent="0" marL="0">
              <a:buNone/>
            </a:pPr>
            <a:r>
              <a:rPr/>
              <a:t>Undo/Redo in FramaCalc:</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Screenshots in the wild (2)</a:t>
            </a:r>
          </a:p>
        </p:txBody>
      </p:sp>
      <p:pic>
        <p:nvPicPr>
          <p:cNvPr descr="undo_redo_in_framacalc.png" id="0" name="Picture 1"/>
          <p:cNvPicPr>
            <a:picLocks noGrp="1" noChangeAspect="1"/>
          </p:cNvPicPr>
          <p:nvPr/>
        </p:nvPicPr>
        <p:blipFill>
          <a:blip r:embed="rId2"/>
          <a:stretch>
            <a:fillRect/>
          </a:stretch>
        </p:blipFill>
        <p:spPr bwMode="auto">
          <a:xfrm>
            <a:off x="457200" y="1917700"/>
            <a:ext cx="8229600" cy="14478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undo_redo_in_framacalc.png</a:t>
            </a:r>
          </a:p>
        </p:txBody>
      </p:sp>
      <p:sp>
        <p:nvSpPr>
          <p:cNvPr id="3" name="Content Placeholder 2"/>
          <p:cNvSpPr>
            <a:spLocks noGrp="1"/>
          </p:cNvSpPr>
          <p:nvPr>
            <p:ph idx="1"/>
          </p:nvPr>
        </p:nvSpPr>
        <p:spPr/>
        <p:txBody>
          <a:bodyPr/>
          <a:lstStyle/>
          <a:p>
            <a:pPr lvl="0" indent="0" marL="0">
              <a:buNone/>
            </a:pPr>
            <a:r>
              <a:rPr/>
              <a:t>Undo/Redo in LibrePCB:</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Screenshots in the wild (2)</a:t>
            </a:r>
          </a:p>
        </p:txBody>
      </p:sp>
      <p:pic>
        <p:nvPicPr>
          <p:cNvPr descr="undo_redo_in_librepcb.png" id="0" name="Picture 1"/>
          <p:cNvPicPr>
            <a:picLocks noGrp="1" noChangeAspect="1"/>
          </p:cNvPicPr>
          <p:nvPr/>
        </p:nvPicPr>
        <p:blipFill>
          <a:blip r:embed="rId2"/>
          <a:stretch>
            <a:fillRect/>
          </a:stretch>
        </p:blipFill>
        <p:spPr bwMode="auto">
          <a:xfrm>
            <a:off x="457200" y="1981200"/>
            <a:ext cx="8229600" cy="13081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undo_redo_in_librepcb.png</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 to </a:t>
            </a:r>
            <a:r>
              <a:rPr>
                <a:latin typeface="Courier"/>
              </a:rPr>
              <a:t>undoredo</a:t>
            </a:r>
          </a:p>
        </p:txBody>
      </p:sp>
      <p:sp>
        <p:nvSpPr>
          <p:cNvPr id="3" name="Content Placeholder 2"/>
          <p:cNvSpPr>
            <a:spLocks noGrp="1"/>
          </p:cNvSpPr>
          <p:nvPr>
            <p:ph idx="1"/>
          </p:nvPr>
        </p:nvSpPr>
        <p:spPr/>
        <p:txBody>
          <a:bodyPr/>
          <a:lstStyle/>
          <a:p>
            <a:pPr lvl="0" indent="0" marL="0">
              <a:buNone/>
            </a:pPr>
            <a:r>
              <a:rPr>
                <a:latin typeface="Courier"/>
              </a:rPr>
              <a:t>undoredo</a:t>
            </a:r>
            <a:r>
              <a:rPr/>
              <a:t> is a Rust library that implements the Undo/Redo pattern in three ways:</a:t>
            </a:r>
          </a:p>
          <a:p>
            <a:pPr lvl="0"/>
            <a:r>
              <a:rPr/>
              <a:t>by storing commands (Command pattern);</a:t>
            </a:r>
          </a:p>
          <a:p>
            <a:pPr lvl="0"/>
            <a:r>
              <a:rPr/>
              <a:t>by capturing snapshots (Memento pattern);</a:t>
            </a:r>
          </a:p>
          <a:p>
            <a:pPr lvl="0"/>
            <a:r>
              <a:rPr/>
              <a:t>by automatically recording </a:t>
            </a:r>
            <a:r>
              <a:rPr i="1"/>
              <a:t>sparse deltas</a:t>
            </a:r>
            <a:r>
              <a:rPr/>
              <a:t> (aka. diffs, patches).</a:t>
            </a:r>
          </a:p>
          <a:p>
            <a:pPr lvl="0" indent="0" marL="0">
              <a:buNone/>
            </a:pPr>
            <a:r>
              <a:rPr/>
              <a:t>This all works on arbitrary data structures.</a:t>
            </a:r>
          </a:p>
          <a:p>
            <a:pPr lvl="0"/>
            <a:r>
              <a:rPr/>
              <a:t>Crates.io: https://crates.io/crates/undoredo</a:t>
            </a:r>
          </a:p>
          <a:p>
            <a:pPr lvl="0"/>
            <a:r>
              <a:rPr/>
              <a:t>Repository: https://github.com/mikwielgus/undoredo</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undoredo</a:t>
            </a:r>
            <a:r>
              <a:rPr/>
              <a:t> in action - R-treed polygons</a:t>
            </a:r>
          </a:p>
        </p:txBody>
      </p:sp>
      <p:sp>
        <p:nvSpPr>
          <p:cNvPr id="3" name="Content Placeholder 2"/>
          <p:cNvSpPr>
            <a:spLocks noGrp="1"/>
          </p:cNvSpPr>
          <p:nvPr>
            <p:ph idx="1"/>
          </p:nvPr>
        </p:nvSpPr>
        <p:spPr/>
        <p:txBody>
          <a:bodyPr/>
          <a:lstStyle/>
          <a:p>
            <a:pPr lvl="0" indent="0" marL="0">
              <a:buNone/>
            </a:pPr>
            <a:r>
              <a:rPr/>
              <a:t>Undo-redo over polygons with R-trees using deltas: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latin typeface="Courier"/>
              </a:rPr>
              <a:t>undoredo</a:t>
            </a:r>
            <a:r>
              <a:rPr/>
              <a:t> in action - R-treed polygons</a:t>
            </a:r>
          </a:p>
        </p:txBody>
      </p:sp>
      <p:pic>
        <p:nvPicPr>
          <p:cNvPr descr="polygon_set_demo.gif" id="0" name="Picture 1"/>
          <p:cNvPicPr>
            <a:picLocks noGrp="1" noChangeAspect="1"/>
          </p:cNvPicPr>
          <p:nvPr/>
        </p:nvPicPr>
        <p:blipFill>
          <a:blip r:embed="rId2"/>
          <a:stretch>
            <a:fillRect/>
          </a:stretch>
        </p:blipFill>
        <p:spPr bwMode="auto">
          <a:xfrm>
            <a:off x="2654300" y="1193800"/>
            <a:ext cx="3848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polygon_set_demo.gif</a:t>
            </a:r>
          </a:p>
        </p:txBody>
      </p:sp>
      <p:sp>
        <p:nvSpPr>
          <p:cNvPr id="3" name="Content Placeholder 2"/>
          <p:cNvSpPr>
            <a:spLocks noGrp="1"/>
          </p:cNvSpPr>
          <p:nvPr>
            <p:ph idx="1"/>
          </p:nvPr>
        </p:nvSpPr>
        <p:spPr/>
        <p:txBody>
          <a:bodyPr/>
          <a:lstStyle/>
          <a:p>
            <a:pPr lvl="0"/>
            <a:r>
              <a:rPr/>
              <a:t>Both the polygon collection and the R-tree are delta’ed all automatically by </a:t>
            </a:r>
            <a:r>
              <a:rPr>
                <a:latin typeface="Courier"/>
              </a:rPr>
              <a:t>undoredo</a:t>
            </a:r>
            <a:r>
              <a:rPr/>
              <a:t>.</a:t>
            </a:r>
          </a:p>
          <a:p>
            <a:pPr lvl="0"/>
            <a:r>
              <a:rPr/>
              <a:t>Only sparse differences between states are stored, no snapshots.</a:t>
            </a:r>
          </a:p>
          <a:p>
            <a:pPr lvl="0"/>
            <a:r>
              <a:rPr/>
              <a:t>No application-specific undo-redo logic had to be implemented manually.</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Command pattern</a:t>
            </a:r>
          </a:p>
        </p:txBody>
      </p:sp>
      <p:sp>
        <p:nvSpPr>
          <p:cNvPr id="3" name="Content Placeholder 2"/>
          <p:cNvSpPr>
            <a:spLocks noGrp="1"/>
          </p:cNvSpPr>
          <p:nvPr>
            <p:ph idx="1"/>
          </p:nvPr>
        </p:nvSpPr>
        <p:spPr/>
        <p:txBody>
          <a:bodyPr/>
          <a:lstStyle/>
          <a:p>
            <a:pPr lvl="0" indent="0" marL="0">
              <a:buNone/>
            </a:pPr>
            <a:r>
              <a:rPr/>
              <a:t>Command pattern is the most common way to perform Undo/Redo. It’s conceptually very simple.</a:t>
            </a:r>
          </a:p>
          <a:p>
            <a:pPr lvl="0" indent="0" marL="0">
              <a:buNone/>
            </a:pPr>
            <a:r>
              <a:rPr>
                <a:latin typeface="Courier"/>
              </a:rPr>
              <a:t>undoredo</a:t>
            </a:r>
            <a:r>
              <a:rPr/>
              <a:t> can be used for Command pattern like this:</a:t>
            </a:r>
          </a:p>
          <a:p>
            <a:pPr lvl="0" indent="0">
              <a:buNone/>
            </a:pPr>
            <a:r>
              <a:rPr b="1">
                <a:solidFill>
                  <a:srgbClr val="007020"/>
                </a:solidFill>
                <a:latin typeface="Courier"/>
              </a:rPr>
              <a:t>struct</a:t>
            </a:r>
            <a:r>
              <a:rPr>
                <a:latin typeface="Courier"/>
              </a:rPr>
              <a:t> PushChar(</a:t>
            </a:r>
            <a:r>
              <a:rPr>
                <a:solidFill>
                  <a:srgbClr val="902000"/>
                </a:solidFill>
                <a:latin typeface="Courier"/>
              </a:rPr>
              <a:t>char</a:t>
            </a:r>
            <a:r>
              <a:rPr>
                <a:latin typeface="Courier"/>
              </a:rPr>
              <a:t>)</a:t>
            </a:r>
            <a:r>
              <a:rPr>
                <a:solidFill>
                  <a:srgbClr val="666666"/>
                </a:solidFill>
                <a:latin typeface="Courier"/>
              </a:rPr>
              <a:t>;</a:t>
            </a:r>
            <a:r>
              <a:rPr>
                <a:latin typeface="Courier"/>
              </a:rPr>
              <a:t> </a:t>
            </a:r>
            <a:r>
              <a:rPr i="1">
                <a:solidFill>
                  <a:srgbClr val="60A0B0"/>
                </a:solidFill>
                <a:latin typeface="Courier"/>
              </a:rPr>
              <a:t>// Command.</a:t>
            </a:r>
          </a:p>
          <a:p>
            <a:pPr lvl="0" indent="0">
              <a:buNone/>
            </a:pPr>
            <a:r>
              <a:rPr b="1">
                <a:solidFill>
                  <a:srgbClr val="007020"/>
                </a:solidFill>
                <a:latin typeface="Courier"/>
              </a:rPr>
              <a:t>use</a:t>
            </a:r>
            <a:r>
              <a:rPr>
                <a:latin typeface="Courier"/>
              </a:rPr>
              <a:t> </a:t>
            </a:r>
            <a:r>
              <a:rPr>
                <a:solidFill>
                  <a:srgbClr val="BC7A00"/>
                </a:solidFill>
                <a:latin typeface="Courier"/>
              </a:rPr>
              <a:t>undoredo::</a:t>
            </a:r>
            <a:r>
              <a:rPr>
                <a:latin typeface="Courier"/>
              </a:rPr>
              <a:t>UndoRedo</a:t>
            </a:r>
            <a:r>
              <a:rPr>
                <a:solidFill>
                  <a:srgbClr val="666666"/>
                </a:solidFill>
                <a:latin typeface="Courier"/>
              </a:rPr>
              <a:t>;</a:t>
            </a:r>
            <a:r>
              <a:rPr>
                <a:latin typeface="Courier"/>
              </a:rPr>
              <a:t> </a:t>
            </a:r>
            <a:r>
              <a:rPr i="1">
                <a:solidFill>
                  <a:srgbClr val="60A0B0"/>
                </a:solidFill>
                <a:latin typeface="Courier"/>
              </a:rPr>
              <a:t>// Import undo-redo bistack.</a:t>
            </a:r>
          </a:p>
          <a:p>
            <a:pPr lvl="0" indent="0">
              <a:buNone/>
            </a:pPr>
            <a:r>
              <a:rPr b="1">
                <a:solidFill>
                  <a:srgbClr val="007020"/>
                </a:solidFill>
                <a:latin typeface="Courier"/>
              </a:rPr>
              <a:t>let</a:t>
            </a:r>
            <a:r>
              <a:rPr>
                <a:latin typeface="Courier"/>
              </a:rPr>
              <a:t> </a:t>
            </a:r>
            <a:r>
              <a:rPr b="1">
                <a:solidFill>
                  <a:srgbClr val="007020"/>
                </a:solidFill>
                <a:latin typeface="Courier"/>
              </a:rPr>
              <a:t>mut</a:t>
            </a:r>
            <a:r>
              <a:rPr>
                <a:latin typeface="Courier"/>
              </a:rPr>
              <a:t> string </a:t>
            </a:r>
            <a:r>
              <a:rPr>
                <a:solidFill>
                  <a:srgbClr val="666666"/>
                </a:solidFill>
                <a:latin typeface="Courier"/>
              </a:rPr>
              <a:t>=</a:t>
            </a:r>
            <a:r>
              <a:rPr>
                <a:latin typeface="Courier"/>
              </a:rPr>
              <a:t> </a:t>
            </a:r>
            <a:r>
              <a:rPr>
                <a:solidFill>
                  <a:srgbClr val="902000"/>
                </a:solidFill>
                <a:latin typeface="Courier"/>
              </a:rPr>
              <a:t>String</a:t>
            </a:r>
            <a:r>
              <a:rPr>
                <a:solidFill>
                  <a:srgbClr val="BC7A00"/>
                </a:solidFill>
                <a:latin typeface="Courier"/>
              </a:rPr>
              <a:t>::</a:t>
            </a:r>
            <a:r>
              <a:rPr>
                <a:latin typeface="Courier"/>
              </a:rPr>
              <a:t>new()</a:t>
            </a:r>
            <a:r>
              <a:rPr>
                <a:solidFill>
                  <a:srgbClr val="666666"/>
                </a:solidFill>
                <a:latin typeface="Courier"/>
              </a:rPr>
              <a:t>;</a:t>
            </a:r>
            <a:r>
              <a:rPr>
                <a:latin typeface="Courier"/>
              </a:rPr>
              <a:t> </a:t>
            </a:r>
            <a:r>
              <a:rPr i="1">
                <a:solidFill>
                  <a:srgbClr val="60A0B0"/>
                </a:solidFill>
                <a:latin typeface="Courier"/>
              </a:rPr>
              <a:t>// String we operate on.</a:t>
            </a:r>
            <a:br/>
            <a:r>
              <a:rPr b="1">
                <a:solidFill>
                  <a:srgbClr val="007020"/>
                </a:solidFill>
                <a:latin typeface="Courier"/>
              </a:rPr>
              <a:t>let</a:t>
            </a:r>
            <a:r>
              <a:rPr>
                <a:latin typeface="Courier"/>
              </a:rPr>
              <a:t> </a:t>
            </a:r>
            <a:r>
              <a:rPr b="1">
                <a:solidFill>
                  <a:srgbClr val="007020"/>
                </a:solidFill>
                <a:latin typeface="Courier"/>
              </a:rPr>
              <a:t>mut</a:t>
            </a:r>
            <a:r>
              <a:rPr>
                <a:latin typeface="Courier"/>
              </a:rPr>
              <a:t> undoredo</a:t>
            </a:r>
            <a:r>
              <a:rPr>
                <a:solidFill>
                  <a:srgbClr val="666666"/>
                </a:solidFill>
                <a:latin typeface="Courier"/>
              </a:rPr>
              <a:t>:</a:t>
            </a:r>
            <a:r>
              <a:rPr>
                <a:latin typeface="Courier"/>
              </a:rPr>
              <a:t> UndoRedo</a:t>
            </a:r>
            <a:r>
              <a:rPr>
                <a:solidFill>
                  <a:srgbClr val="666666"/>
                </a:solidFill>
                <a:latin typeface="Courier"/>
              </a:rPr>
              <a:t>&lt;</a:t>
            </a:r>
            <a:r>
              <a:rPr>
                <a:latin typeface="Courier"/>
              </a:rPr>
              <a:t>()</a:t>
            </a:r>
            <a:r>
              <a:rPr>
                <a:solidFill>
                  <a:srgbClr val="666666"/>
                </a:solidFill>
                <a:latin typeface="Courier"/>
              </a:rPr>
              <a:t>,</a:t>
            </a:r>
            <a:r>
              <a:rPr>
                <a:latin typeface="Courier"/>
              </a:rPr>
              <a:t> PushChar</a:t>
            </a:r>
            <a:r>
              <a:rPr>
                <a:solidFill>
                  <a:srgbClr val="666666"/>
                </a:solidFill>
                <a:latin typeface="Courier"/>
              </a:rPr>
              <a:t>&gt;</a:t>
            </a:r>
            <a:r>
              <a:rPr>
                <a:latin typeface="Courier"/>
              </a:rPr>
              <a:t> </a:t>
            </a:r>
            <a:r>
              <a:rPr>
                <a:solidFill>
                  <a:srgbClr val="666666"/>
                </a:solidFill>
                <a:latin typeface="Courier"/>
              </a:rPr>
              <a:t>=</a:t>
            </a:r>
            <a:r>
              <a:rPr>
                <a:latin typeface="Courier"/>
              </a:rPr>
              <a:t> </a:t>
            </a:r>
            <a:r>
              <a:rPr>
                <a:solidFill>
                  <a:srgbClr val="BC7A00"/>
                </a:solidFill>
                <a:latin typeface="Courier"/>
              </a:rPr>
              <a:t>UndoRedo::</a:t>
            </a:r>
            <a:r>
              <a:rPr>
                <a:latin typeface="Courier"/>
              </a:rPr>
              <a:t>new()</a:t>
            </a:r>
            <a:r>
              <a:rPr>
                <a:solidFill>
                  <a:srgbClr val="666666"/>
                </a:solidFill>
                <a:latin typeface="Courier"/>
              </a:rPr>
              <a:t>;</a:t>
            </a:r>
            <a:r>
              <a:rPr>
                <a:latin typeface="Courier"/>
              </a:rPr>
              <a:t> </a:t>
            </a:r>
            <a:r>
              <a:rPr i="1">
                <a:solidFill>
                  <a:srgbClr val="60A0B0"/>
                </a:solidFill>
                <a:latin typeface="Courier"/>
              </a:rPr>
              <a:t>// Undo-redo bistack.</a:t>
            </a:r>
          </a:p>
          <a:p>
            <a:pPr lvl="0" indent="0">
              <a:buNone/>
            </a:pPr>
            <a:r>
              <a:rPr b="1">
                <a:solidFill>
                  <a:srgbClr val="007020"/>
                </a:solidFill>
                <a:latin typeface="Courier"/>
              </a:rPr>
              <a:t>let</a:t>
            </a:r>
            <a:r>
              <a:rPr>
                <a:latin typeface="Courier"/>
              </a:rPr>
              <a:t> cmd </a:t>
            </a:r>
            <a:r>
              <a:rPr>
                <a:solidFill>
                  <a:srgbClr val="666666"/>
                </a:solidFill>
                <a:latin typeface="Courier"/>
              </a:rPr>
              <a:t>=</a:t>
            </a:r>
            <a:r>
              <a:rPr>
                <a:latin typeface="Courier"/>
              </a:rPr>
              <a:t> PushChar(</a:t>
            </a:r>
            <a:r>
              <a:rPr>
                <a:solidFill>
                  <a:srgbClr val="4070A0"/>
                </a:solidFill>
                <a:latin typeface="Courier"/>
              </a:rPr>
              <a:t>'a'</a:t>
            </a:r>
            <a:r>
              <a:rPr>
                <a:latin typeface="Courier"/>
              </a:rPr>
              <a:t>)</a:t>
            </a:r>
            <a:r>
              <a:rPr>
                <a:solidFill>
                  <a:srgbClr val="666666"/>
                </a:solidFill>
                <a:latin typeface="Courier"/>
              </a:rPr>
              <a:t>;</a:t>
            </a:r>
            <a:r>
              <a:rPr>
                <a:latin typeface="Courier"/>
              </a:rPr>
              <a:t> </a:t>
            </a:r>
            <a:r>
              <a:rPr i="1">
                <a:solidFill>
                  <a:srgbClr val="60A0B0"/>
                </a:solidFill>
                <a:latin typeface="Courier"/>
              </a:rPr>
              <a:t>// Command to perform.</a:t>
            </a:r>
            <a:br/>
            <a:r>
              <a:rPr>
                <a:latin typeface="Courier"/>
              </a:rPr>
              <a:t>string</a:t>
            </a:r>
            <a:r>
              <a:rPr>
                <a:solidFill>
                  <a:srgbClr val="666666"/>
                </a:solidFill>
                <a:latin typeface="Courier"/>
              </a:rPr>
              <a:t>.</a:t>
            </a:r>
            <a:r>
              <a:rPr>
                <a:latin typeface="Courier"/>
              </a:rPr>
              <a:t>push(cmd</a:t>
            </a:r>
            <a:r>
              <a:rPr>
                <a:solidFill>
                  <a:srgbClr val="666666"/>
                </a:solidFill>
                <a:latin typeface="Courier"/>
              </a:rPr>
              <a:t>.</a:t>
            </a:r>
            <a:r>
              <a:rPr>
                <a:solidFill>
                  <a:srgbClr val="40A070"/>
                </a:solidFill>
                <a:latin typeface="Courier"/>
              </a:rPr>
              <a:t>0</a:t>
            </a:r>
            <a:r>
              <a:rPr>
                <a:latin typeface="Courier"/>
              </a:rPr>
              <a:t>)</a:t>
            </a:r>
            <a:r>
              <a:rPr>
                <a:solidFill>
                  <a:srgbClr val="666666"/>
                </a:solidFill>
                <a:latin typeface="Courier"/>
              </a:rPr>
              <a:t>;</a:t>
            </a:r>
            <a:r>
              <a:rPr>
                <a:latin typeface="Courier"/>
              </a:rPr>
              <a:t> </a:t>
            </a:r>
            <a:r>
              <a:rPr i="1">
                <a:solidFill>
                  <a:srgbClr val="60A0B0"/>
                </a:solidFill>
                <a:latin typeface="Courier"/>
              </a:rPr>
              <a:t>// Perform command: push char 'a'.</a:t>
            </a:r>
            <a:br/>
            <a:br/>
            <a:r>
              <a:rPr>
                <a:latin typeface="Courier"/>
              </a:rPr>
              <a:t>undoredo</a:t>
            </a:r>
            <a:r>
              <a:rPr>
                <a:solidFill>
                  <a:srgbClr val="666666"/>
                </a:solidFill>
                <a:latin typeface="Courier"/>
              </a:rPr>
              <a:t>.</a:t>
            </a:r>
            <a:r>
              <a:rPr>
                <a:latin typeface="Courier"/>
              </a:rPr>
              <a:t>command(cmd)</a:t>
            </a:r>
            <a:r>
              <a:rPr>
                <a:solidFill>
                  <a:srgbClr val="666666"/>
                </a:solidFill>
                <a:latin typeface="Courier"/>
              </a:rPr>
              <a:t>;</a:t>
            </a:r>
            <a:r>
              <a:rPr>
                <a:latin typeface="Courier"/>
              </a:rPr>
              <a:t> </a:t>
            </a:r>
            <a:r>
              <a:rPr i="1">
                <a:solidFill>
                  <a:srgbClr val="60A0B0"/>
                </a:solidFill>
                <a:latin typeface="Courier"/>
              </a:rPr>
              <a:t>// Push the command to the undo-redo bistack.</a:t>
            </a:r>
          </a:p>
          <a:p>
            <a:pPr lvl="0" indent="0">
              <a:buNone/>
            </a:pPr>
            <a:r>
              <a:rPr b="1">
                <a:solidFill>
                  <a:srgbClr val="007020"/>
                </a:solidFill>
                <a:latin typeface="Courier"/>
              </a:rPr>
              <a:t>match</a:t>
            </a:r>
            <a:r>
              <a:rPr>
                <a:latin typeface="Courier"/>
              </a:rPr>
              <a:t> undoredo</a:t>
            </a:r>
            <a:r>
              <a:rPr>
                <a:solidFill>
                  <a:srgbClr val="666666"/>
                </a:solidFill>
                <a:latin typeface="Courier"/>
              </a:rPr>
              <a:t>.</a:t>
            </a:r>
            <a:r>
              <a:rPr>
                <a:latin typeface="Courier"/>
              </a:rPr>
              <a:t>undo_command() </a:t>
            </a:r>
            <a:r>
              <a:rPr>
                <a:solidFill>
                  <a:srgbClr val="666666"/>
                </a:solidFill>
                <a:latin typeface="Courier"/>
              </a:rPr>
              <a:t>{</a:t>
            </a:r>
            <a:r>
              <a:rPr>
                <a:latin typeface="Courier"/>
              </a:rPr>
              <a:t> </a:t>
            </a:r>
            <a:r>
              <a:rPr i="1">
                <a:solidFill>
                  <a:srgbClr val="60A0B0"/>
                </a:solidFill>
                <a:latin typeface="Courier"/>
              </a:rPr>
              <a:t>// Move the last done command to undone commands, return its clone.</a:t>
            </a:r>
            <a:br/>
            <a:r>
              <a:rPr>
                <a:latin typeface="Courier"/>
              </a:rPr>
              <a:t>  </a:t>
            </a:r>
            <a:r>
              <a:rPr>
                <a:solidFill>
                  <a:srgbClr val="880000"/>
                </a:solidFill>
                <a:latin typeface="Courier"/>
              </a:rPr>
              <a:t>Some</a:t>
            </a:r>
            <a:r>
              <a:rPr>
                <a:latin typeface="Courier"/>
              </a:rPr>
              <a:t>(PushChar(</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666666"/>
                </a:solidFill>
                <a:latin typeface="Courier"/>
              </a:rPr>
              <a:t>{</a:t>
            </a:r>
            <a:r>
              <a:rPr>
                <a:latin typeface="Courier"/>
              </a:rPr>
              <a:t> string</a:t>
            </a:r>
            <a:r>
              <a:rPr>
                <a:solidFill>
                  <a:srgbClr val="666666"/>
                </a:solidFill>
                <a:latin typeface="Courier"/>
              </a:rPr>
              <a:t>.</a:t>
            </a:r>
            <a:r>
              <a:rPr>
                <a:latin typeface="Courier"/>
              </a:rPr>
              <a:t>pop()</a:t>
            </a:r>
            <a:r>
              <a:rPr>
                <a:solidFill>
                  <a:srgbClr val="666666"/>
                </a:solidFill>
                <a:latin typeface="Courier"/>
              </a:rPr>
              <a:t>;</a:t>
            </a:r>
            <a:r>
              <a:rPr>
                <a:latin typeface="Courier"/>
              </a:rPr>
              <a:t> </a:t>
            </a:r>
            <a:r>
              <a:rPr>
                <a:solidFill>
                  <a:srgbClr val="666666"/>
                </a:solidFill>
                <a:latin typeface="Courier"/>
              </a:rPr>
              <a:t>}</a:t>
            </a:r>
            <a:r>
              <a:rPr>
                <a:latin typeface="Courier"/>
              </a:rPr>
              <a:t> </a:t>
            </a:r>
            <a:r>
              <a:rPr i="1">
                <a:solidFill>
                  <a:srgbClr val="60A0B0"/>
                </a:solidFill>
                <a:latin typeface="Courier"/>
              </a:rPr>
              <a:t>// Undo the push char operation.</a:t>
            </a:r>
            <a:br/>
            <a:r>
              <a:rPr>
                <a:latin typeface="Courier"/>
              </a:rPr>
              <a:t>  _ </a:t>
            </a:r>
            <a:r>
              <a:rPr>
                <a:solidFill>
                  <a:srgbClr val="666666"/>
                </a:solidFill>
                <a:latin typeface="Courier"/>
              </a:rPr>
              <a:t>=&gt;</a:t>
            </a:r>
            <a:r>
              <a:rPr>
                <a:latin typeface="Courier"/>
              </a:rPr>
              <a:t> </a:t>
            </a:r>
            <a:r>
              <a:rPr>
                <a:solidFill>
                  <a:srgbClr val="666666"/>
                </a:solidFill>
                <a:latin typeface="Courier"/>
              </a:rPr>
              <a:t>{}</a:t>
            </a:r>
            <a:br/>
            <a:r>
              <a:rPr>
                <a:solidFill>
                  <a:srgbClr val="666666"/>
                </a:solidFill>
                <a:latin typeface="Courier"/>
              </a:rPr>
              <a:t>}</a:t>
            </a:r>
          </a:p>
          <a:p>
            <a:pPr lvl="0" indent="0">
              <a:buNone/>
            </a:pPr>
            <a:r>
              <a:rPr b="1">
                <a:solidFill>
                  <a:srgbClr val="007020"/>
                </a:solidFill>
                <a:latin typeface="Courier"/>
              </a:rPr>
              <a:t>match</a:t>
            </a:r>
            <a:r>
              <a:rPr>
                <a:latin typeface="Courier"/>
              </a:rPr>
              <a:t> undoredo</a:t>
            </a:r>
            <a:r>
              <a:rPr>
                <a:solidFill>
                  <a:srgbClr val="666666"/>
                </a:solidFill>
                <a:latin typeface="Courier"/>
              </a:rPr>
              <a:t>.</a:t>
            </a:r>
            <a:r>
              <a:rPr>
                <a:latin typeface="Courier"/>
              </a:rPr>
              <a:t>redo_command() </a:t>
            </a:r>
            <a:r>
              <a:rPr>
                <a:solidFill>
                  <a:srgbClr val="666666"/>
                </a:solidFill>
                <a:latin typeface="Courier"/>
              </a:rPr>
              <a:t>{</a:t>
            </a:r>
            <a:r>
              <a:rPr>
                <a:latin typeface="Courier"/>
              </a:rPr>
              <a:t> </a:t>
            </a:r>
            <a:r>
              <a:rPr i="1">
                <a:solidFill>
                  <a:srgbClr val="60A0B0"/>
                </a:solidFill>
                <a:latin typeface="Courier"/>
              </a:rPr>
              <a:t>// Move the last undone command to done commands, return its clone.</a:t>
            </a:r>
            <a:br/>
            <a:r>
              <a:rPr>
                <a:latin typeface="Courier"/>
              </a:rPr>
              <a:t>  </a:t>
            </a:r>
            <a:r>
              <a:rPr>
                <a:solidFill>
                  <a:srgbClr val="880000"/>
                </a:solidFill>
                <a:latin typeface="Courier"/>
              </a:rPr>
              <a:t>Some</a:t>
            </a:r>
            <a:r>
              <a:rPr>
                <a:latin typeface="Courier"/>
              </a:rPr>
              <a:t>(PushChar(c)) </a:t>
            </a:r>
            <a:r>
              <a:rPr>
                <a:solidFill>
                  <a:srgbClr val="666666"/>
                </a:solidFill>
                <a:latin typeface="Courier"/>
              </a:rPr>
              <a:t>=&gt;</a:t>
            </a:r>
            <a:r>
              <a:rPr>
                <a:latin typeface="Courier"/>
              </a:rPr>
              <a:t> string</a:t>
            </a:r>
            <a:r>
              <a:rPr>
                <a:solidFill>
                  <a:srgbClr val="666666"/>
                </a:solidFill>
                <a:latin typeface="Courier"/>
              </a:rPr>
              <a:t>.</a:t>
            </a:r>
            <a:r>
              <a:rPr>
                <a:latin typeface="Courier"/>
              </a:rPr>
              <a:t>push(c)</a:t>
            </a:r>
            <a:r>
              <a:rPr>
                <a:solidFill>
                  <a:srgbClr val="666666"/>
                </a:solidFill>
                <a:latin typeface="Courier"/>
              </a:rPr>
              <a:t>,</a:t>
            </a:r>
            <a:r>
              <a:rPr>
                <a:latin typeface="Courier"/>
              </a:rPr>
              <a:t> </a:t>
            </a:r>
            <a:r>
              <a:rPr i="1">
                <a:solidFill>
                  <a:srgbClr val="60A0B0"/>
                </a:solidFill>
                <a:latin typeface="Courier"/>
              </a:rPr>
              <a:t>// Perform command again: push char 'a'.</a:t>
            </a:r>
            <a:br/>
            <a:r>
              <a:rPr>
                <a:latin typeface="Courier"/>
              </a:rPr>
              <a:t>  _ </a:t>
            </a:r>
            <a:r>
              <a:rPr>
                <a:solidFill>
                  <a:srgbClr val="666666"/>
                </a:solidFill>
                <a:latin typeface="Courier"/>
              </a:rPr>
              <a:t>=&gt;</a:t>
            </a: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Disadvantages of Command pattern</a:t>
            </a:r>
          </a:p>
        </p:txBody>
      </p:sp>
      <p:sp>
        <p:nvSpPr>
          <p:cNvPr id="3" name="Content Placeholder 2"/>
          <p:cNvSpPr>
            <a:spLocks noGrp="1"/>
          </p:cNvSpPr>
          <p:nvPr>
            <p:ph idx="1"/>
          </p:nvPr>
        </p:nvSpPr>
        <p:spPr/>
        <p:txBody>
          <a:bodyPr/>
          <a:lstStyle/>
          <a:p>
            <a:pPr lvl="0" indent="0" marL="0">
              <a:buNone/>
            </a:pPr>
            <a:r>
              <a:rPr/>
              <a:t>It is the downstream developer who has to implement the behavior of the commands themselves.</a:t>
            </a:r>
          </a:p>
          <a:p>
            <a:pPr lvl="0" indent="0" marL="0">
              <a:buNone/>
            </a:pPr>
            <a:r>
              <a:rPr>
                <a:latin typeface="Courier"/>
              </a:rPr>
              <a:t>undoredo</a:t>
            </a:r>
            <a:r>
              <a:rPr/>
              <a:t> cannot automate Command pattern any more beyond providing its undo-redo bistack, </a:t>
            </a:r>
            <a:r>
              <a:rPr>
                <a:latin typeface="Courier"/>
              </a:rPr>
              <a:t>UndoRedo</a:t>
            </a:r>
            <a:r>
              <a:rPr/>
              <a:t>, because it has no knowledge of the underlying logic, it only sees data.</a:t>
            </a:r>
          </a:p>
          <a:p>
            <a:pPr lvl="0" indent="0" marL="0">
              <a:buNone/>
            </a:pPr>
            <a:r>
              <a:rPr/>
              <a:t>Command pattern is conceptually simple, but it actually results in the most complicated code.</a:t>
            </a:r>
          </a:p>
          <a:p>
            <a:pPr lvl="0" indent="0" marL="0">
              <a:buNone/>
            </a:pPr>
            <a:r>
              <a:rPr/>
              <a:t>If your data structure is large and complicated, code for executing commands will be complicated as well. Because of that, it is easy to end up with elusive bugs involving problems with determinism and consistency.</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Snapshots</a:t>
            </a:r>
          </a:p>
        </p:txBody>
      </p:sp>
      <p:sp>
        <p:nvSpPr>
          <p:cNvPr id="3" name="Content Placeholder 2"/>
          <p:cNvSpPr>
            <a:spLocks noGrp="1"/>
          </p:cNvSpPr>
          <p:nvPr>
            <p:ph idx="1"/>
          </p:nvPr>
        </p:nvSpPr>
        <p:spPr/>
        <p:txBody>
          <a:bodyPr/>
          <a:lstStyle/>
          <a:p>
            <a:pPr lvl="0" indent="0" marL="0">
              <a:buNone/>
            </a:pPr>
            <a:r>
              <a:rPr/>
              <a:t>Also known as Memento pattern.</a:t>
            </a:r>
          </a:p>
          <a:p>
            <a:pPr lvl="0" indent="0" marL="0">
              <a:buNone/>
            </a:pPr>
            <a:r>
              <a:rPr/>
              <a:t>A simpler alternative to the Command pattern. Works on anything that implements </a:t>
            </a:r>
            <a:r>
              <a:rPr>
                <a:latin typeface="Courier"/>
              </a:rPr>
              <a:t>Clone</a:t>
            </a:r>
            <a:r>
              <a:rPr/>
              <a:t>.</a:t>
            </a:r>
          </a:p>
          <a:p>
            <a:pPr lvl="0" indent="0">
              <a:buNone/>
            </a:pPr>
            <a:r>
              <a:rPr b="1">
                <a:solidFill>
                  <a:srgbClr val="007020"/>
                </a:solidFill>
                <a:latin typeface="Courier"/>
              </a:rPr>
              <a:t>use</a:t>
            </a:r>
            <a:r>
              <a:rPr>
                <a:latin typeface="Courier"/>
              </a:rPr>
              <a:t> </a:t>
            </a:r>
            <a:r>
              <a:rPr>
                <a:solidFill>
                  <a:srgbClr val="BC7A00"/>
                </a:solidFill>
                <a:latin typeface="Courier"/>
              </a:rPr>
              <a:t>undoredo::</a:t>
            </a:r>
            <a:r>
              <a:rPr>
                <a:latin typeface="Courier"/>
              </a:rPr>
              <a:t>Snapshot</a:t>
            </a:r>
            <a:r>
              <a:rPr>
                <a:solidFill>
                  <a:srgbClr val="666666"/>
                </a:solidFill>
                <a:latin typeface="Courier"/>
              </a:rPr>
              <a:t>;</a:t>
            </a:r>
          </a:p>
          <a:p>
            <a:pPr lvl="0" indent="0">
              <a:buNone/>
            </a:pPr>
            <a:r>
              <a:rPr b="1">
                <a:solidFill>
                  <a:srgbClr val="007020"/>
                </a:solidFill>
                <a:latin typeface="Courier"/>
              </a:rPr>
              <a:t>let</a:t>
            </a:r>
            <a:r>
              <a:rPr>
                <a:latin typeface="Courier"/>
              </a:rPr>
              <a:t> </a:t>
            </a:r>
            <a:r>
              <a:rPr b="1">
                <a:solidFill>
                  <a:srgbClr val="007020"/>
                </a:solidFill>
                <a:latin typeface="Courier"/>
              </a:rPr>
              <a:t>mut</a:t>
            </a:r>
            <a:r>
              <a:rPr>
                <a:latin typeface="Courier"/>
              </a:rPr>
              <a:t> hashmap</a:t>
            </a:r>
            <a:r>
              <a:rPr>
                <a:solidFill>
                  <a:srgbClr val="666666"/>
                </a:solidFill>
                <a:latin typeface="Courier"/>
              </a:rPr>
              <a:t>:</a:t>
            </a:r>
            <a:r>
              <a:rPr>
                <a:latin typeface="Courier"/>
              </a:rPr>
              <a:t> HashMap</a:t>
            </a:r>
            <a:r>
              <a:rPr>
                <a:solidFill>
                  <a:srgbClr val="666666"/>
                </a:solidFill>
                <a:latin typeface="Courier"/>
              </a:rPr>
              <a:t>&lt;</a:t>
            </a:r>
            <a:r>
              <a:rPr>
                <a:solidFill>
                  <a:srgbClr val="902000"/>
                </a:solidFill>
                <a:latin typeface="Courier"/>
              </a:rPr>
              <a:t>usize</a:t>
            </a:r>
            <a:r>
              <a:rPr>
                <a:solidFill>
                  <a:srgbClr val="666666"/>
                </a:solidFill>
                <a:latin typeface="Courier"/>
              </a:rPr>
              <a:t>,</a:t>
            </a:r>
            <a:r>
              <a:rPr>
                <a:latin typeface="Courier"/>
              </a:rPr>
              <a:t> </a:t>
            </a:r>
            <a:r>
              <a:rPr>
                <a:solidFill>
                  <a:srgbClr val="902000"/>
                </a:solidFill>
                <a:latin typeface="Courier"/>
              </a:rPr>
              <a:t>char</a:t>
            </a:r>
            <a:r>
              <a:rPr>
                <a:solidFill>
                  <a:srgbClr val="666666"/>
                </a:solidFill>
                <a:latin typeface="Courier"/>
              </a:rPr>
              <a:t>&gt;</a:t>
            </a:r>
            <a:r>
              <a:rPr>
                <a:latin typeface="Courier"/>
              </a:rPr>
              <a:t> </a:t>
            </a:r>
            <a:r>
              <a:rPr>
                <a:solidFill>
                  <a:srgbClr val="666666"/>
                </a:solidFill>
                <a:latin typeface="Courier"/>
              </a:rPr>
              <a:t>=</a:t>
            </a:r>
            <a:r>
              <a:rPr>
                <a:latin typeface="Courier"/>
              </a:rPr>
              <a:t> </a:t>
            </a:r>
            <a:r>
              <a:rPr>
                <a:solidFill>
                  <a:srgbClr val="BC7A00"/>
                </a:solidFill>
                <a:latin typeface="Courier"/>
              </a:rPr>
              <a:t>HashMap::</a:t>
            </a:r>
            <a:r>
              <a:rPr>
                <a:latin typeface="Courier"/>
              </a:rPr>
              <a:t>new()</a:t>
            </a:r>
            <a:r>
              <a:rPr>
                <a:solidFill>
                  <a:srgbClr val="666666"/>
                </a:solidFill>
                <a:latin typeface="Courier"/>
              </a:rPr>
              <a:t>;</a:t>
            </a:r>
            <a:br/>
            <a:r>
              <a:rPr i="1">
                <a:solidFill>
                  <a:srgbClr val="60A0B0"/>
                </a:solidFill>
                <a:latin typeface="Courier"/>
              </a:rPr>
              <a:t>// Note use of `Snapshot&lt;...&gt;`</a:t>
            </a:r>
            <a:br/>
            <a:r>
              <a:rPr b="1">
                <a:solidFill>
                  <a:srgbClr val="007020"/>
                </a:solidFill>
                <a:latin typeface="Courier"/>
              </a:rPr>
              <a:t>let</a:t>
            </a:r>
            <a:r>
              <a:rPr>
                <a:latin typeface="Courier"/>
              </a:rPr>
              <a:t> </a:t>
            </a:r>
            <a:r>
              <a:rPr b="1">
                <a:solidFill>
                  <a:srgbClr val="007020"/>
                </a:solidFill>
                <a:latin typeface="Courier"/>
              </a:rPr>
              <a:t>mut</a:t>
            </a:r>
            <a:r>
              <a:rPr>
                <a:latin typeface="Courier"/>
              </a:rPr>
              <a:t> undoredo</a:t>
            </a:r>
            <a:r>
              <a:rPr>
                <a:solidFill>
                  <a:srgbClr val="666666"/>
                </a:solidFill>
                <a:latin typeface="Courier"/>
              </a:rPr>
              <a:t>:</a:t>
            </a:r>
            <a:r>
              <a:rPr>
                <a:latin typeface="Courier"/>
              </a:rPr>
              <a:t> UndoRedo</a:t>
            </a:r>
            <a:r>
              <a:rPr>
                <a:solidFill>
                  <a:srgbClr val="666666"/>
                </a:solidFill>
                <a:latin typeface="Courier"/>
              </a:rPr>
              <a:t>&lt;</a:t>
            </a:r>
            <a:r>
              <a:rPr>
                <a:latin typeface="Courier"/>
              </a:rPr>
              <a:t>Snapshot</a:t>
            </a:r>
            <a:r>
              <a:rPr>
                <a:solidFill>
                  <a:srgbClr val="666666"/>
                </a:solidFill>
                <a:latin typeface="Courier"/>
              </a:rPr>
              <a:t>&lt;</a:t>
            </a:r>
            <a:r>
              <a:rPr>
                <a:latin typeface="Courier"/>
              </a:rPr>
              <a:t>HashMap</a:t>
            </a:r>
            <a:r>
              <a:rPr>
                <a:solidFill>
                  <a:srgbClr val="666666"/>
                </a:solidFill>
                <a:latin typeface="Courier"/>
              </a:rPr>
              <a:t>&lt;</a:t>
            </a:r>
            <a:r>
              <a:rPr>
                <a:solidFill>
                  <a:srgbClr val="902000"/>
                </a:solidFill>
                <a:latin typeface="Courier"/>
              </a:rPr>
              <a:t>usize</a:t>
            </a:r>
            <a:r>
              <a:rPr>
                <a:solidFill>
                  <a:srgbClr val="666666"/>
                </a:solidFill>
                <a:latin typeface="Courier"/>
              </a:rPr>
              <a:t>,</a:t>
            </a:r>
            <a:r>
              <a:rPr>
                <a:latin typeface="Courier"/>
              </a:rPr>
              <a:t> </a:t>
            </a:r>
            <a:r>
              <a:rPr>
                <a:solidFill>
                  <a:srgbClr val="902000"/>
                </a:solidFill>
                <a:latin typeface="Courier"/>
              </a:rPr>
              <a:t>char</a:t>
            </a:r>
            <a:r>
              <a:rPr>
                <a:solidFill>
                  <a:srgbClr val="666666"/>
                </a:solidFill>
                <a:latin typeface="Courier"/>
              </a:rPr>
              <a:t>&gt;&gt;&gt;</a:t>
            </a:r>
            <a:r>
              <a:rPr>
                <a:latin typeface="Courier"/>
              </a:rPr>
              <a:t> </a:t>
            </a:r>
            <a:r>
              <a:rPr>
                <a:solidFill>
                  <a:srgbClr val="666666"/>
                </a:solidFill>
                <a:latin typeface="Courier"/>
              </a:rPr>
              <a:t>=</a:t>
            </a:r>
            <a:r>
              <a:rPr>
                <a:latin typeface="Courier"/>
              </a:rPr>
              <a:t> </a:t>
            </a:r>
            <a:r>
              <a:rPr>
                <a:solidFill>
                  <a:srgbClr val="BC7A00"/>
                </a:solidFill>
                <a:latin typeface="Courier"/>
              </a:rPr>
              <a:t>UndoRedo::</a:t>
            </a:r>
            <a:r>
              <a:rPr>
                <a:latin typeface="Courier"/>
              </a:rPr>
              <a:t>new()</a:t>
            </a:r>
            <a:r>
              <a:rPr>
                <a:solidFill>
                  <a:srgbClr val="666666"/>
                </a:solidFill>
                <a:latin typeface="Courier"/>
              </a:rPr>
              <a:t>;</a:t>
            </a:r>
          </a:p>
          <a:p>
            <a:pPr lvl="0" indent="0" marL="0">
              <a:buNone/>
            </a:pPr>
            <a:r>
              <a:rPr/>
              <a:t>When undoing using snapshots, you need to have the initial state committed:</a:t>
            </a:r>
          </a:p>
          <a:p>
            <a:pPr lvl="0" indent="0">
              <a:buNone/>
            </a:pPr>
            <a:r>
              <a:rPr>
                <a:latin typeface="Courier"/>
              </a:rPr>
              <a:t>undoredo</a:t>
            </a:r>
            <a:r>
              <a:rPr>
                <a:solidFill>
                  <a:srgbClr val="666666"/>
                </a:solidFill>
                <a:latin typeface="Courier"/>
              </a:rPr>
              <a:t>.</a:t>
            </a:r>
            <a:r>
              <a:rPr>
                <a:latin typeface="Courier"/>
              </a:rPr>
              <a:t>commit(</a:t>
            </a:r>
            <a:r>
              <a:rPr>
                <a:solidFill>
                  <a:srgbClr val="666666"/>
                </a:solidFill>
                <a:latin typeface="Courier"/>
              </a:rPr>
              <a:t>&amp;</a:t>
            </a:r>
            <a:r>
              <a:rPr b="1">
                <a:solidFill>
                  <a:srgbClr val="007020"/>
                </a:solidFill>
                <a:latin typeface="Courier"/>
              </a:rPr>
              <a:t>mut</a:t>
            </a:r>
            <a:r>
              <a:rPr>
                <a:latin typeface="Courier"/>
              </a:rPr>
              <a:t> hashmap)</a:t>
            </a:r>
            <a:r>
              <a:rPr>
                <a:solidFill>
                  <a:srgbClr val="666666"/>
                </a:solidFill>
                <a:latin typeface="Courier"/>
              </a:rPr>
              <a:t>;</a:t>
            </a:r>
          </a:p>
          <a:p>
            <a:pPr lvl="0" indent="0">
              <a:buNone/>
            </a:pPr>
            <a:r>
              <a:rPr>
                <a:latin typeface="Courier"/>
              </a:rPr>
              <a:t>hashmap</a:t>
            </a:r>
            <a:r>
              <a:rPr>
                <a:solidFill>
                  <a:srgbClr val="666666"/>
                </a:solidFill>
                <a:latin typeface="Courier"/>
              </a:rPr>
              <a:t>.</a:t>
            </a:r>
            <a:r>
              <a:rPr>
                <a:latin typeface="Courier"/>
              </a:rPr>
              <a:t>insert(</a:t>
            </a:r>
            <a:r>
              <a:rPr>
                <a:solidFill>
                  <a:srgbClr val="40A070"/>
                </a:solidFill>
                <a:latin typeface="Courier"/>
              </a:rPr>
              <a:t>1</a:t>
            </a:r>
            <a:r>
              <a:rPr>
                <a:solidFill>
                  <a:srgbClr val="666666"/>
                </a:solidFill>
                <a:latin typeface="Courier"/>
              </a:rPr>
              <a:t>,</a:t>
            </a:r>
            <a:r>
              <a:rPr>
                <a:latin typeface="Courier"/>
              </a:rPr>
              <a:t> </a:t>
            </a:r>
            <a:r>
              <a:rPr>
                <a:solidFill>
                  <a:srgbClr val="4070A0"/>
                </a:solidFill>
                <a:latin typeface="Courier"/>
              </a:rPr>
              <a:t>'A'</a:t>
            </a:r>
            <a:r>
              <a:rPr>
                <a:latin typeface="Courier"/>
              </a:rPr>
              <a:t>)</a:t>
            </a:r>
            <a:r>
              <a:rPr>
                <a:solidFill>
                  <a:srgbClr val="666666"/>
                </a:solidFill>
                <a:latin typeface="Courier"/>
              </a:rPr>
              <a:t>;</a:t>
            </a:r>
          </a:p>
          <a:p>
            <a:pPr lvl="0" indent="0">
              <a:buNone/>
            </a:pPr>
            <a:r>
              <a:rPr>
                <a:latin typeface="Courier"/>
              </a:rPr>
              <a:t>undoredo</a:t>
            </a:r>
            <a:r>
              <a:rPr>
                <a:solidFill>
                  <a:srgbClr val="666666"/>
                </a:solidFill>
                <a:latin typeface="Courier"/>
              </a:rPr>
              <a:t>.</a:t>
            </a:r>
            <a:r>
              <a:rPr>
                <a:latin typeface="Courier"/>
              </a:rPr>
              <a:t>undo(</a:t>
            </a:r>
            <a:r>
              <a:rPr>
                <a:solidFill>
                  <a:srgbClr val="666666"/>
                </a:solidFill>
                <a:latin typeface="Courier"/>
              </a:rPr>
              <a:t>&amp;</a:t>
            </a:r>
            <a:r>
              <a:rPr b="1">
                <a:solidFill>
                  <a:srgbClr val="007020"/>
                </a:solidFill>
                <a:latin typeface="Courier"/>
              </a:rPr>
              <a:t>mut</a:t>
            </a:r>
            <a:r>
              <a:rPr>
                <a:latin typeface="Courier"/>
              </a:rPr>
              <a:t> hashmap)</a:t>
            </a:r>
            <a:r>
              <a:rPr>
                <a:solidFill>
                  <a:srgbClr val="666666"/>
                </a:solidFill>
                <a:latin typeface="Courier"/>
              </a:rPr>
              <a:t>;</a:t>
            </a:r>
          </a:p>
          <a:p>
            <a:pPr lvl="0" indent="0" marL="0">
              <a:buNone/>
            </a:pPr>
            <a:r>
              <a:rPr/>
              <a:t>The container is now empty again after undo.</a:t>
            </a:r>
          </a:p>
          <a:p>
            <a:pPr lvl="0" indent="0">
              <a:buNone/>
            </a:pPr>
            <a:r>
              <a:rPr>
                <a:latin typeface="Courier"/>
              </a:rPr>
              <a:t>undoredo</a:t>
            </a:r>
            <a:r>
              <a:rPr>
                <a:solidFill>
                  <a:srgbClr val="666666"/>
                </a:solidFill>
                <a:latin typeface="Courier"/>
              </a:rPr>
              <a:t>.</a:t>
            </a:r>
            <a:r>
              <a:rPr>
                <a:latin typeface="Courier"/>
              </a:rPr>
              <a:t>redo(</a:t>
            </a:r>
            <a:r>
              <a:rPr>
                <a:solidFill>
                  <a:srgbClr val="666666"/>
                </a:solidFill>
                <a:latin typeface="Courier"/>
              </a:rPr>
              <a:t>&amp;</a:t>
            </a:r>
            <a:r>
              <a:rPr b="1">
                <a:solidFill>
                  <a:srgbClr val="007020"/>
                </a:solidFill>
                <a:latin typeface="Courier"/>
              </a:rPr>
              <a:t>mut</a:t>
            </a:r>
            <a:r>
              <a:rPr>
                <a:latin typeface="Courier"/>
              </a:rPr>
              <a:t> hashmap)</a:t>
            </a:r>
            <a:r>
              <a:rPr>
                <a:solidFill>
                  <a:srgbClr val="666666"/>
                </a:solidFill>
                <a:latin typeface="Courier"/>
              </a:rPr>
              <a:t>;</a:t>
            </a:r>
          </a:p>
          <a:p>
            <a:pPr lvl="0" indent="0" marL="0">
              <a:buNone/>
            </a:pPr>
            <a:r>
              <a:rPr/>
              <a:t>The container now holds ‘A’ again after redo.</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Disadvantages of snapshots</a:t>
            </a:r>
          </a:p>
        </p:txBody>
      </p:sp>
      <p:sp>
        <p:nvSpPr>
          <p:cNvPr id="3" name="Content Placeholder 2"/>
          <p:cNvSpPr>
            <a:spLocks noGrp="1"/>
          </p:cNvSpPr>
          <p:nvPr>
            <p:ph idx="1"/>
          </p:nvPr>
        </p:nvSpPr>
        <p:spPr/>
        <p:txBody>
          <a:bodyPr/>
          <a:lstStyle/>
          <a:p>
            <a:pPr lvl="0" indent="0" marL="0">
              <a:buNone/>
            </a:pPr>
            <a:r>
              <a:rPr/>
              <a:t>The total size is proportional both to data structure’s size and the number of snapshots.</a:t>
            </a:r>
          </a:p>
          <a:p>
            <a:pPr lvl="0" indent="0" marL="0">
              <a:buNone/>
            </a:pPr>
            <a:r>
              <a:rPr/>
              <a:t>So if your data structure is large, or a large number of snapshots has been created, you may easily run out of memory.</a:t>
            </a:r>
          </a:p>
          <a:p>
            <a:pPr lvl="0" indent="0" marL="0">
              <a:buNone/>
            </a:pPr>
            <a:r>
              <a:rPr/>
              <a:t>100 snapshots of 10 MiB = 1 GiB of used memory</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Deltas</a:t>
            </a:r>
          </a:p>
        </p:txBody>
      </p:sp>
      <p:sp>
        <p:nvSpPr>
          <p:cNvPr id="3" name="Content Placeholder 2"/>
          <p:cNvSpPr>
            <a:spLocks noGrp="1"/>
          </p:cNvSpPr>
          <p:nvPr>
            <p:ph idx="1"/>
          </p:nvPr>
        </p:nvSpPr>
        <p:spPr/>
        <p:txBody>
          <a:bodyPr/>
          <a:lstStyle/>
          <a:p>
            <a:pPr lvl="0" indent="0" marL="0">
              <a:buNone/>
            </a:pPr>
            <a:r>
              <a:rPr>
                <a:latin typeface="Courier"/>
              </a:rPr>
              <a:t>undoredo</a:t>
            </a:r>
            <a:r>
              <a:rPr/>
              <a:t> was originally developed for delta-based undo-redo. It was extended with commands and snapshots only later.</a:t>
            </a:r>
          </a:p>
          <a:p>
            <a:pPr lvl="0" indent="0" marL="0">
              <a:buNone/>
            </a:pPr>
            <a:r>
              <a:rPr/>
              <a:t>Delta-based undo-redo is similar to undo-redo using commands and snapshots.</a:t>
            </a:r>
          </a:p>
          <a:p>
            <a:pPr lvl="0" indent="0">
              <a:buNone/>
            </a:pPr>
            <a:r>
              <a:rPr b="1">
                <a:solidFill>
                  <a:srgbClr val="007020"/>
                </a:solidFill>
                <a:latin typeface="Courier"/>
              </a:rPr>
              <a:t>use</a:t>
            </a:r>
            <a:r>
              <a:rPr>
                <a:latin typeface="Courier"/>
              </a:rPr>
              <a:t> </a:t>
            </a:r>
            <a:r>
              <a:rPr>
                <a:solidFill>
                  <a:srgbClr val="BC7A00"/>
                </a:solidFill>
                <a:latin typeface="Courier"/>
              </a:rPr>
              <a:t>undoredo::aliases::</a:t>
            </a:r>
            <a:r>
              <a:rPr>
                <a:latin typeface="Courier"/>
              </a:rPr>
              <a:t>HashMapDelta</a:t>
            </a:r>
            <a:r>
              <a:rPr>
                <a:solidFill>
                  <a:srgbClr val="666666"/>
                </a:solidFill>
                <a:latin typeface="Courier"/>
              </a:rPr>
              <a:t>;</a:t>
            </a:r>
          </a:p>
          <a:p>
            <a:pPr lvl="0" indent="0" marL="0">
              <a:buNone/>
            </a:pPr>
            <a:r>
              <a:rPr/>
              <a:t>Initialize </a:t>
            </a:r>
            <a:r>
              <a:rPr>
                <a:latin typeface="Courier"/>
              </a:rPr>
              <a:t>HashMap</a:t>
            </a:r>
            <a:r>
              <a:rPr/>
              <a:t> and </a:t>
            </a:r>
            <a:r>
              <a:rPr>
                <a:latin typeface="Courier"/>
              </a:rPr>
              <a:t>UndoRedo</a:t>
            </a:r>
            <a:r>
              <a:rPr/>
              <a:t>:</a:t>
            </a:r>
          </a:p>
          <a:p>
            <a:pPr lvl="0" indent="0">
              <a:buNone/>
            </a:pPr>
            <a:r>
              <a:rPr b="1">
                <a:solidFill>
                  <a:srgbClr val="007020"/>
                </a:solidFill>
                <a:latin typeface="Courier"/>
              </a:rPr>
              <a:t>let</a:t>
            </a:r>
            <a:r>
              <a:rPr>
                <a:latin typeface="Courier"/>
              </a:rPr>
              <a:t> </a:t>
            </a:r>
            <a:r>
              <a:rPr b="1">
                <a:solidFill>
                  <a:srgbClr val="007020"/>
                </a:solidFill>
                <a:latin typeface="Courier"/>
              </a:rPr>
              <a:t>mut</a:t>
            </a:r>
            <a:r>
              <a:rPr>
                <a:latin typeface="Courier"/>
              </a:rPr>
              <a:t> hashmap</a:t>
            </a:r>
            <a:r>
              <a:rPr>
                <a:solidFill>
                  <a:srgbClr val="666666"/>
                </a:solidFill>
                <a:latin typeface="Courier"/>
              </a:rPr>
              <a:t>:</a:t>
            </a:r>
            <a:r>
              <a:rPr>
                <a:latin typeface="Courier"/>
              </a:rPr>
              <a:t> HashMap</a:t>
            </a:r>
            <a:r>
              <a:rPr>
                <a:solidFill>
                  <a:srgbClr val="666666"/>
                </a:solidFill>
                <a:latin typeface="Courier"/>
              </a:rPr>
              <a:t>&lt;</a:t>
            </a:r>
            <a:r>
              <a:rPr>
                <a:solidFill>
                  <a:srgbClr val="902000"/>
                </a:solidFill>
                <a:latin typeface="Courier"/>
              </a:rPr>
              <a:t>usize</a:t>
            </a:r>
            <a:r>
              <a:rPr>
                <a:solidFill>
                  <a:srgbClr val="666666"/>
                </a:solidFill>
                <a:latin typeface="Courier"/>
              </a:rPr>
              <a:t>,</a:t>
            </a:r>
            <a:r>
              <a:rPr>
                <a:latin typeface="Courier"/>
              </a:rPr>
              <a:t> </a:t>
            </a:r>
            <a:r>
              <a:rPr>
                <a:solidFill>
                  <a:srgbClr val="902000"/>
                </a:solidFill>
                <a:latin typeface="Courier"/>
              </a:rPr>
              <a:t>char</a:t>
            </a:r>
            <a:r>
              <a:rPr>
                <a:solidFill>
                  <a:srgbClr val="666666"/>
                </a:solidFill>
                <a:latin typeface="Courier"/>
              </a:rPr>
              <a:t>&gt;</a:t>
            </a:r>
            <a:r>
              <a:rPr>
                <a:latin typeface="Courier"/>
              </a:rPr>
              <a:t> </a:t>
            </a:r>
            <a:r>
              <a:rPr>
                <a:solidFill>
                  <a:srgbClr val="666666"/>
                </a:solidFill>
                <a:latin typeface="Courier"/>
              </a:rPr>
              <a:t>=</a:t>
            </a:r>
            <a:r>
              <a:rPr>
                <a:latin typeface="Courier"/>
              </a:rPr>
              <a:t> </a:t>
            </a:r>
            <a:r>
              <a:rPr>
                <a:solidFill>
                  <a:srgbClr val="BC7A00"/>
                </a:solidFill>
                <a:latin typeface="Courier"/>
              </a:rPr>
              <a:t>HashMap::</a:t>
            </a:r>
            <a:r>
              <a:rPr>
                <a:latin typeface="Courier"/>
              </a:rPr>
              <a:t>new()</a:t>
            </a:r>
            <a:r>
              <a:rPr>
                <a:solidFill>
                  <a:srgbClr val="666666"/>
                </a:solidFill>
                <a:latin typeface="Courier"/>
              </a:rPr>
              <a:t>;</a:t>
            </a:r>
            <a:br/>
            <a:r>
              <a:rPr b="1">
                <a:solidFill>
                  <a:srgbClr val="007020"/>
                </a:solidFill>
                <a:latin typeface="Courier"/>
              </a:rPr>
              <a:t>let</a:t>
            </a:r>
            <a:r>
              <a:rPr>
                <a:latin typeface="Courier"/>
              </a:rPr>
              <a:t> </a:t>
            </a:r>
            <a:r>
              <a:rPr b="1">
                <a:solidFill>
                  <a:srgbClr val="007020"/>
                </a:solidFill>
                <a:latin typeface="Courier"/>
              </a:rPr>
              <a:t>mut</a:t>
            </a:r>
            <a:r>
              <a:rPr>
                <a:latin typeface="Courier"/>
              </a:rPr>
              <a:t> undoredo</a:t>
            </a:r>
            <a:r>
              <a:rPr>
                <a:solidFill>
                  <a:srgbClr val="666666"/>
                </a:solidFill>
                <a:latin typeface="Courier"/>
              </a:rPr>
              <a:t>:</a:t>
            </a:r>
            <a:r>
              <a:rPr>
                <a:latin typeface="Courier"/>
              </a:rPr>
              <a:t> UndoRedo</a:t>
            </a:r>
            <a:r>
              <a:rPr>
                <a:solidFill>
                  <a:srgbClr val="666666"/>
                </a:solidFill>
                <a:latin typeface="Courier"/>
              </a:rPr>
              <a:t>&lt;</a:t>
            </a:r>
            <a:r>
              <a:rPr>
                <a:latin typeface="Courier"/>
              </a:rPr>
              <a:t>HashMapDelta</a:t>
            </a:r>
            <a:r>
              <a:rPr>
                <a:solidFill>
                  <a:srgbClr val="666666"/>
                </a:solidFill>
                <a:latin typeface="Courier"/>
              </a:rPr>
              <a:t>&lt;</a:t>
            </a:r>
            <a:r>
              <a:rPr>
                <a:solidFill>
                  <a:srgbClr val="902000"/>
                </a:solidFill>
                <a:latin typeface="Courier"/>
              </a:rPr>
              <a:t>usize</a:t>
            </a:r>
            <a:r>
              <a:rPr>
                <a:solidFill>
                  <a:srgbClr val="666666"/>
                </a:solidFill>
                <a:latin typeface="Courier"/>
              </a:rPr>
              <a:t>,</a:t>
            </a:r>
            <a:r>
              <a:rPr>
                <a:latin typeface="Courier"/>
              </a:rPr>
              <a:t> </a:t>
            </a:r>
            <a:r>
              <a:rPr>
                <a:solidFill>
                  <a:srgbClr val="902000"/>
                </a:solidFill>
                <a:latin typeface="Courier"/>
              </a:rPr>
              <a:t>char</a:t>
            </a:r>
            <a:r>
              <a:rPr>
                <a:solidFill>
                  <a:srgbClr val="666666"/>
                </a:solidFill>
                <a:latin typeface="Courier"/>
              </a:rPr>
              <a:t>&gt;&gt;&gt;</a:t>
            </a:r>
            <a:r>
              <a:rPr>
                <a:latin typeface="Courier"/>
              </a:rPr>
              <a:t> </a:t>
            </a:r>
            <a:r>
              <a:rPr>
                <a:solidFill>
                  <a:srgbClr val="666666"/>
                </a:solidFill>
                <a:latin typeface="Courier"/>
              </a:rPr>
              <a:t>=</a:t>
            </a:r>
            <a:r>
              <a:rPr>
                <a:latin typeface="Courier"/>
              </a:rPr>
              <a:t> </a:t>
            </a:r>
            <a:r>
              <a:rPr>
                <a:solidFill>
                  <a:srgbClr val="BC7A00"/>
                </a:solidFill>
                <a:latin typeface="Courier"/>
              </a:rPr>
              <a:t>UndoRedo::</a:t>
            </a:r>
            <a:r>
              <a:rPr>
                <a:latin typeface="Courier"/>
              </a:rPr>
              <a:t>new()</a:t>
            </a:r>
            <a:r>
              <a:rPr>
                <a:solidFill>
                  <a:srgbClr val="666666"/>
                </a:solidFill>
                <a:latin typeface="Courier"/>
              </a:rPr>
              <a:t>;</a:t>
            </a:r>
          </a:p>
          <a:p>
            <a:pPr lvl="0" indent="0" marL="0">
              <a:buNone/>
            </a:pPr>
            <a:r>
              <a:rPr/>
              <a:t>Now let’s insert ‘A’ at key 1:</a:t>
            </a:r>
          </a:p>
          <a:p>
            <a:pPr lvl="0" indent="0">
              <a:buNone/>
            </a:pPr>
            <a:r>
              <a:rPr>
                <a:latin typeface="Courier"/>
              </a:rPr>
              <a:t>hashmap</a:t>
            </a:r>
            <a:r>
              <a:rPr>
                <a:solidFill>
                  <a:srgbClr val="666666"/>
                </a:solidFill>
                <a:latin typeface="Courier"/>
              </a:rPr>
              <a:t>.</a:t>
            </a:r>
            <a:r>
              <a:rPr>
                <a:latin typeface="Courier"/>
              </a:rPr>
              <a:t>insert(</a:t>
            </a:r>
            <a:r>
              <a:rPr>
                <a:solidFill>
                  <a:srgbClr val="40A070"/>
                </a:solidFill>
                <a:latin typeface="Courier"/>
              </a:rPr>
              <a:t>1</a:t>
            </a:r>
            <a:r>
              <a:rPr>
                <a:solidFill>
                  <a:srgbClr val="666666"/>
                </a:solidFill>
                <a:latin typeface="Courier"/>
              </a:rPr>
              <a:t>,</a:t>
            </a:r>
            <a:r>
              <a:rPr>
                <a:latin typeface="Courier"/>
              </a:rPr>
              <a:t> </a:t>
            </a:r>
            <a:r>
              <a:rPr>
                <a:solidFill>
                  <a:srgbClr val="4070A0"/>
                </a:solidFill>
                <a:latin typeface="Courier"/>
              </a:rPr>
              <a:t>'A'</a:t>
            </a:r>
            <a:r>
              <a:rPr>
                <a:latin typeface="Courier"/>
              </a:rPr>
              <a:t>)</a:t>
            </a:r>
            <a:r>
              <a:rPr>
                <a:solidFill>
                  <a:srgbClr val="666666"/>
                </a:solidFill>
                <a:latin typeface="Courier"/>
              </a:rPr>
              <a:t>;</a:t>
            </a:r>
          </a:p>
          <a:p>
            <a:pPr lvl="0" indent="0" marL="0">
              <a:buNone/>
            </a:pPr>
            <a:r>
              <a:rPr/>
              <a:t>Now let’s undo:</a:t>
            </a:r>
          </a:p>
          <a:p>
            <a:pPr lvl="0" indent="0">
              <a:buNone/>
            </a:pPr>
            <a:r>
              <a:rPr>
                <a:latin typeface="Courier"/>
              </a:rPr>
              <a:t>undoredo</a:t>
            </a:r>
            <a:r>
              <a:rPr>
                <a:solidFill>
                  <a:srgbClr val="666666"/>
                </a:solidFill>
                <a:latin typeface="Courier"/>
              </a:rPr>
              <a:t>.</a:t>
            </a:r>
            <a:r>
              <a:rPr>
                <a:latin typeface="Courier"/>
              </a:rPr>
              <a:t>undo(</a:t>
            </a:r>
            <a:r>
              <a:rPr>
                <a:solidFill>
                  <a:srgbClr val="666666"/>
                </a:solidFill>
                <a:latin typeface="Courier"/>
              </a:rPr>
              <a:t>&amp;</a:t>
            </a:r>
            <a:r>
              <a:rPr b="1">
                <a:solidFill>
                  <a:srgbClr val="007020"/>
                </a:solidFill>
                <a:latin typeface="Courier"/>
              </a:rPr>
              <a:t>mut</a:t>
            </a:r>
            <a:r>
              <a:rPr>
                <a:latin typeface="Courier"/>
              </a:rPr>
              <a:t> hashmap)</a:t>
            </a:r>
            <a:r>
              <a:rPr>
                <a:solidFill>
                  <a:srgbClr val="666666"/>
                </a:solidFill>
                <a:latin typeface="Courier"/>
              </a:rPr>
              <a:t>;</a:t>
            </a:r>
          </a:p>
          <a:p>
            <a:pPr lvl="0" indent="0" marL="0">
              <a:buNone/>
            </a:pPr>
            <a:r>
              <a:rPr/>
              <a:t>The container is now empty again after undo.</a:t>
            </a:r>
          </a:p>
          <a:p>
            <a:pPr lvl="0" indent="0">
              <a:buNone/>
            </a:pPr>
            <a:r>
              <a:rPr>
                <a:latin typeface="Courier"/>
              </a:rPr>
              <a:t>undoredo</a:t>
            </a:r>
            <a:r>
              <a:rPr>
                <a:solidFill>
                  <a:srgbClr val="666666"/>
                </a:solidFill>
                <a:latin typeface="Courier"/>
              </a:rPr>
              <a:t>.</a:t>
            </a:r>
            <a:r>
              <a:rPr>
                <a:latin typeface="Courier"/>
              </a:rPr>
              <a:t>redo(</a:t>
            </a:r>
            <a:r>
              <a:rPr>
                <a:solidFill>
                  <a:srgbClr val="666666"/>
                </a:solidFill>
                <a:latin typeface="Courier"/>
              </a:rPr>
              <a:t>&amp;</a:t>
            </a:r>
            <a:r>
              <a:rPr b="1">
                <a:solidFill>
                  <a:srgbClr val="007020"/>
                </a:solidFill>
                <a:latin typeface="Courier"/>
              </a:rPr>
              <a:t>mut</a:t>
            </a:r>
            <a:r>
              <a:rPr>
                <a:latin typeface="Courier"/>
              </a:rPr>
              <a:t> hashmap)</a:t>
            </a:r>
            <a:r>
              <a:rPr>
                <a:solidFill>
                  <a:srgbClr val="666666"/>
                </a:solidFill>
                <a:latin typeface="Courier"/>
              </a:rPr>
              <a:t>;</a:t>
            </a:r>
          </a:p>
          <a:p>
            <a:pPr lvl="0" indent="0" marL="0">
              <a:buNone/>
            </a:pPr>
            <a:r>
              <a:rPr/>
              <a:t>The container holds ‘A’ at key 1 again after redo.</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R-treed demo again</a:t>
            </a:r>
          </a:p>
        </p:txBody>
      </p:sp>
      <p:sp>
        <p:nvSpPr>
          <p:cNvPr id="3" name="Content Placeholder 2"/>
          <p:cNvSpPr>
            <a:spLocks noGrp="1"/>
          </p:cNvSpPr>
          <p:nvPr>
            <p:ph idx="1"/>
          </p:nvPr>
        </p:nvSpPr>
        <p:spPr/>
        <p:txBody>
          <a:bodyPr/>
          <a:lstStyle/>
          <a:p>
            <a:pPr lvl="0" indent="0" marL="0">
              <a:buNone/>
            </a:pPr>
            <a:r>
              <a:rPr/>
              <a:t>Let’s go back to the previous demo again: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R-treed demo again</a:t>
            </a:r>
          </a:p>
        </p:txBody>
      </p:sp>
      <p:pic>
        <p:nvPicPr>
          <p:cNvPr descr="polygon_set_demo.gif" id="0" name="Picture 1"/>
          <p:cNvPicPr>
            <a:picLocks noGrp="1" noChangeAspect="1"/>
          </p:cNvPicPr>
          <p:nvPr/>
        </p:nvPicPr>
        <p:blipFill>
          <a:blip r:embed="rId2"/>
          <a:stretch>
            <a:fillRect/>
          </a:stretch>
        </p:blipFill>
        <p:spPr bwMode="auto">
          <a:xfrm>
            <a:off x="2654300" y="1193800"/>
            <a:ext cx="3848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polygon_set_demo.gif</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Deltas on custom structs</a:t>
            </a:r>
          </a:p>
        </p:txBody>
      </p:sp>
      <p:sp>
        <p:nvSpPr>
          <p:cNvPr id="3" name="Content Placeholder 2"/>
          <p:cNvSpPr>
            <a:spLocks noGrp="1"/>
          </p:cNvSpPr>
          <p:nvPr>
            <p:ph idx="1"/>
          </p:nvPr>
        </p:nvSpPr>
        <p:spPr/>
        <p:txBody>
          <a:bodyPr/>
          <a:lstStyle/>
          <a:p>
            <a:pPr lvl="0" indent="0" marL="0">
              <a:buNone/>
            </a:pPr>
            <a:r>
              <a:rPr/>
              <a:t>If you have your own struct, not a collection from </a:t>
            </a:r>
            <a:r>
              <a:rPr>
                <a:latin typeface="Courier"/>
              </a:rPr>
              <a:t>std</a:t>
            </a:r>
            <a:r>
              <a:rPr/>
              <a:t> like </a:t>
            </a:r>
            <a:r>
              <a:rPr>
                <a:latin typeface="Courier"/>
              </a:rPr>
              <a:t>HashMap</a:t>
            </a:r>
            <a:r>
              <a:rPr/>
              <a:t> or from a supported third-party crate, to perform delta-based undo-redo on it you need to implement undo-redo’s special traits for it yourself.</a:t>
            </a:r>
          </a:p>
          <a:p>
            <a:pPr lvl="0" indent="0" marL="0">
              <a:buNone/>
            </a:pPr>
            <a:r>
              <a:rPr/>
              <a:t>Fortunately, </a:t>
            </a:r>
            <a:r>
              <a:rPr>
                <a:latin typeface="Courier"/>
              </a:rPr>
              <a:t>undoredo</a:t>
            </a:r>
            <a:r>
              <a:rPr/>
              <a:t> provides a derive macro for that, </a:t>
            </a:r>
            <a:r>
              <a:rPr>
                <a:latin typeface="Courier"/>
              </a:rPr>
              <a:t>derive(Delta)</a:t>
            </a:r>
            <a:r>
              <a:rPr/>
              <a:t>.</a:t>
            </a:r>
          </a:p>
          <a:p>
            <a:pPr lvl="0" indent="0">
              <a:buNone/>
            </a:pPr>
            <a:r>
              <a:rPr b="1">
                <a:solidFill>
                  <a:srgbClr val="007020"/>
                </a:solidFill>
                <a:latin typeface="Courier"/>
              </a:rPr>
              <a:t>use</a:t>
            </a:r>
            <a:r>
              <a:rPr>
                <a:latin typeface="Courier"/>
              </a:rPr>
              <a:t> </a:t>
            </a:r>
            <a:r>
              <a:rPr>
                <a:solidFill>
                  <a:srgbClr val="BC7A00"/>
                </a:solidFill>
                <a:latin typeface="Courier"/>
              </a:rPr>
              <a:t>undoredo::</a:t>
            </a:r>
            <a:r>
              <a:rPr>
                <a:latin typeface="Courier"/>
              </a:rPr>
              <a:t>Delta</a:t>
            </a:r>
            <a:r>
              <a:rPr>
                <a:solidFill>
                  <a:srgbClr val="666666"/>
                </a:solidFill>
                <a:latin typeface="Courier"/>
              </a:rPr>
              <a:t>;</a:t>
            </a:r>
          </a:p>
          <a:p>
            <a:pPr lvl="0" indent="0">
              <a:buNone/>
            </a:pPr>
            <a:r>
              <a:rPr>
                <a:solidFill>
                  <a:srgbClr val="7D9029"/>
                </a:solidFill>
                <a:latin typeface="Courier"/>
              </a:rPr>
              <a:t>#[</a:t>
            </a:r>
            <a:r>
              <a:rPr>
                <a:latin typeface="Courier"/>
              </a:rPr>
              <a:t>derive</a:t>
            </a:r>
            <a:r>
              <a:rPr>
                <a:solidFill>
                  <a:srgbClr val="7D9029"/>
                </a:solidFill>
                <a:latin typeface="Courier"/>
              </a:rPr>
              <a:t>(</a:t>
            </a:r>
            <a:r>
              <a:rPr>
                <a:latin typeface="Courier"/>
              </a:rPr>
              <a:t>Delta</a:t>
            </a:r>
            <a:r>
              <a:rPr>
                <a:solidFill>
                  <a:srgbClr val="7D9029"/>
                </a:solidFill>
                <a:latin typeface="Courier"/>
              </a:rPr>
              <a:t>)]</a:t>
            </a:r>
            <a:br/>
            <a:r>
              <a:rPr b="1">
                <a:solidFill>
                  <a:srgbClr val="007020"/>
                </a:solidFill>
                <a:latin typeface="Courier"/>
              </a:rPr>
              <a:t>pub</a:t>
            </a:r>
            <a:r>
              <a:rPr>
                <a:latin typeface="Courier"/>
              </a:rPr>
              <a:t> </a:t>
            </a:r>
            <a:r>
              <a:rPr b="1">
                <a:solidFill>
                  <a:srgbClr val="007020"/>
                </a:solidFill>
                <a:latin typeface="Courier"/>
              </a:rPr>
              <a:t>struct</a:t>
            </a:r>
            <a:r>
              <a:rPr>
                <a:latin typeface="Courier"/>
              </a:rPr>
              <a:t> RTreedPolygons </a:t>
            </a:r>
            <a:r>
              <a:rPr>
                <a:solidFill>
                  <a:srgbClr val="666666"/>
                </a:solidFill>
                <a:latin typeface="Courier"/>
              </a:rPr>
              <a:t>{</a:t>
            </a:r>
            <a:br/>
            <a:r>
              <a:rPr>
                <a:latin typeface="Courier"/>
              </a:rPr>
              <a:t>    polygons</a:t>
            </a:r>
            <a:r>
              <a:rPr>
                <a:solidFill>
                  <a:srgbClr val="666666"/>
                </a:solidFill>
                <a:latin typeface="Courier"/>
              </a:rPr>
              <a:t>:</a:t>
            </a:r>
            <a:r>
              <a:rPr>
                <a:latin typeface="Courier"/>
              </a:rPr>
              <a:t> </a:t>
            </a:r>
            <a:r>
              <a:rPr>
                <a:solidFill>
                  <a:srgbClr val="902000"/>
                </a:solidFill>
                <a:latin typeface="Courier"/>
              </a:rPr>
              <a:t>Vec</a:t>
            </a:r>
            <a:r>
              <a:rPr>
                <a:solidFill>
                  <a:srgbClr val="666666"/>
                </a:solidFill>
                <a:latin typeface="Courier"/>
              </a:rPr>
              <a:t>&lt;</a:t>
            </a:r>
            <a:r>
              <a:rPr>
                <a:solidFill>
                  <a:srgbClr val="902000"/>
                </a:solidFill>
                <a:latin typeface="Courier"/>
              </a:rPr>
              <a:t>Vec</a:t>
            </a:r>
            <a:r>
              <a:rPr>
                <a:solidFill>
                  <a:srgbClr val="666666"/>
                </a:solidFill>
                <a:latin typeface="Courier"/>
              </a:rPr>
              <a:t>&lt;</a:t>
            </a:r>
            <a:r>
              <a:rPr>
                <a:latin typeface="Courier"/>
              </a:rPr>
              <a:t>[</a:t>
            </a:r>
            <a:r>
              <a:rPr>
                <a:solidFill>
                  <a:srgbClr val="902000"/>
                </a:solidFill>
                <a:latin typeface="Courier"/>
              </a:rPr>
              <a:t>i64</a:t>
            </a:r>
            <a:r>
              <a:rPr>
                <a:solidFill>
                  <a:srgbClr val="666666"/>
                </a:solidFill>
                <a:latin typeface="Courier"/>
              </a:rPr>
              <a:t>;</a:t>
            </a:r>
            <a:r>
              <a:rPr>
                <a:latin typeface="Courier"/>
              </a:rPr>
              <a:t> </a:t>
            </a:r>
            <a:r>
              <a:rPr>
                <a:solidFill>
                  <a:srgbClr val="40A070"/>
                </a:solidFill>
                <a:latin typeface="Courier"/>
              </a:rPr>
              <a:t>2</a:t>
            </a:r>
            <a:r>
              <a:rPr>
                <a:latin typeface="Courier"/>
              </a:rPr>
              <a:t>]</a:t>
            </a:r>
            <a:r>
              <a:rPr>
                <a:solidFill>
                  <a:srgbClr val="666666"/>
                </a:solidFill>
                <a:latin typeface="Courier"/>
              </a:rPr>
              <a:t>&gt;&gt;,</a:t>
            </a:r>
            <a:br/>
            <a:r>
              <a:rPr>
                <a:latin typeface="Courier"/>
              </a:rPr>
              <a:t>    </a:t>
            </a:r>
            <a:r>
              <a:rPr i="1">
                <a:solidFill>
                  <a:srgbClr val="60A0B0"/>
                </a:solidFill>
                <a:latin typeface="Courier"/>
              </a:rPr>
              <a:t>// R-tree with polygon ids.</a:t>
            </a:r>
            <a:br/>
            <a:r>
              <a:rPr>
                <a:latin typeface="Courier"/>
              </a:rPr>
              <a:t>    rtree</a:t>
            </a:r>
            <a:r>
              <a:rPr>
                <a:solidFill>
                  <a:srgbClr val="666666"/>
                </a:solidFill>
                <a:latin typeface="Courier"/>
              </a:rPr>
              <a:t>:</a:t>
            </a:r>
            <a:r>
              <a:rPr>
                <a:latin typeface="Courier"/>
              </a:rPr>
              <a:t> </a:t>
            </a:r>
            <a:r>
              <a:rPr>
                <a:solidFill>
                  <a:srgbClr val="BC7A00"/>
                </a:solidFill>
                <a:latin typeface="Courier"/>
              </a:rPr>
              <a:t>rstar::</a:t>
            </a:r>
            <a:r>
              <a:rPr>
                <a:latin typeface="Courier"/>
              </a:rPr>
              <a:t>RTree</a:t>
            </a:r>
            <a:r>
              <a:rPr>
                <a:solidFill>
                  <a:srgbClr val="666666"/>
                </a:solidFill>
                <a:latin typeface="Courier"/>
              </a:rPr>
              <a:t>&lt;</a:t>
            </a:r>
            <a:r>
              <a:rPr>
                <a:latin typeface="Courier"/>
              </a:rPr>
              <a:t>GeomWithData</a:t>
            </a:r>
            <a:r>
              <a:rPr>
                <a:solidFill>
                  <a:srgbClr val="666666"/>
                </a:solidFill>
                <a:latin typeface="Courier"/>
              </a:rPr>
              <a:t>&lt;</a:t>
            </a:r>
            <a:r>
              <a:rPr>
                <a:latin typeface="Courier"/>
              </a:rPr>
              <a:t>Rectangle</a:t>
            </a:r>
            <a:r>
              <a:rPr>
                <a:solidFill>
                  <a:srgbClr val="666666"/>
                </a:solidFill>
                <a:latin typeface="Courier"/>
              </a:rPr>
              <a:t>&lt;</a:t>
            </a:r>
            <a:r>
              <a:rPr>
                <a:latin typeface="Courier"/>
              </a:rPr>
              <a:t>[</a:t>
            </a:r>
            <a:r>
              <a:rPr>
                <a:solidFill>
                  <a:srgbClr val="902000"/>
                </a:solidFill>
                <a:latin typeface="Courier"/>
              </a:rPr>
              <a:t>i64</a:t>
            </a:r>
            <a:r>
              <a:rPr>
                <a:solidFill>
                  <a:srgbClr val="666666"/>
                </a:solidFill>
                <a:latin typeface="Courier"/>
              </a:rPr>
              <a:t>;</a:t>
            </a:r>
            <a:r>
              <a:rPr>
                <a:latin typeface="Courier"/>
              </a:rPr>
              <a:t> </a:t>
            </a:r>
            <a:r>
              <a:rPr>
                <a:solidFill>
                  <a:srgbClr val="40A070"/>
                </a:solidFill>
                <a:latin typeface="Courier"/>
              </a:rPr>
              <a:t>2</a:t>
            </a:r>
            <a:r>
              <a:rPr>
                <a:latin typeface="Courier"/>
              </a:rPr>
              <a:t>]</a:t>
            </a:r>
            <a:r>
              <a:rPr>
                <a:solidFill>
                  <a:srgbClr val="666666"/>
                </a:solidFill>
                <a:latin typeface="Courier"/>
              </a:rPr>
              <a:t>&gt;,</a:t>
            </a:r>
            <a:r>
              <a:rPr>
                <a:latin typeface="Courier"/>
              </a:rPr>
              <a:t> </a:t>
            </a:r>
            <a:r>
              <a:rPr>
                <a:solidFill>
                  <a:srgbClr val="902000"/>
                </a:solidFill>
                <a:latin typeface="Courier"/>
              </a:rPr>
              <a:t>usize</a:t>
            </a:r>
            <a:r>
              <a:rPr>
                <a:solidFill>
                  <a:srgbClr val="666666"/>
                </a:solidFill>
                <a:latin typeface="Courier"/>
              </a:rPr>
              <a:t>&gt;&gt;,</a:t>
            </a:r>
            <a:br/>
            <a:r>
              <a:rPr>
                <a:solidFill>
                  <a:srgbClr val="666666"/>
                </a:solidFill>
                <a:latin typeface="Courier"/>
              </a:rPr>
              <a:t>}</a:t>
            </a:r>
          </a:p>
          <a:p>
            <a:pPr lvl="0" indent="0" marL="0">
              <a:buNone/>
            </a:pPr>
            <a:r>
              <a:rPr/>
              <a:t>The delta type is now called </a:t>
            </a:r>
            <a:r>
              <a:rPr>
                <a:latin typeface="Courier"/>
              </a:rPr>
              <a:t>RTreedPolygonsDelta</a:t>
            </a:r>
            <a:r>
              <a:rPr/>
              <a:t>.</a:t>
            </a:r>
          </a:p>
          <a:p>
            <a:pPr lvl="0" indent="0" marL="0">
              <a:buNone/>
            </a:pPr>
            <a:r>
              <a:rPr/>
              <a:t>If you instead use commands or snapshots, you don’t need to do this, because commands work on any type (but it is your job to implement them), and snapshots work on anything that implements </a:t>
            </a:r>
            <a:r>
              <a:rPr>
                <a:latin typeface="Courier"/>
              </a:rPr>
              <a:t>Clone</a:t>
            </a:r>
            <a:r>
              <a:rPr/>
              <a: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Entity-Component-System example</a:t>
            </a:r>
          </a:p>
        </p:txBody>
      </p:sp>
      <p:sp>
        <p:nvSpPr>
          <p:cNvPr id="3" name="Content Placeholder 2"/>
          <p:cNvSpPr>
            <a:spLocks noGrp="1"/>
          </p:cNvSpPr>
          <p:nvPr>
            <p:ph idx="1"/>
          </p:nvPr>
        </p:nvSpPr>
        <p:spPr/>
        <p:txBody>
          <a:bodyPr/>
          <a:lstStyle/>
          <a:p>
            <a:pPr lvl="0" indent="0" marL="0">
              <a:buNone/>
            </a:pPr>
            <a:r>
              <a:rPr/>
              <a:t>Here’s a simple example of an entity-component-system that is undoredoable using deltas:</a:t>
            </a:r>
          </a:p>
          <a:p>
            <a:pPr lvl="0" indent="0">
              <a:buNone/>
            </a:pPr>
            <a:r>
              <a:rPr>
                <a:solidFill>
                  <a:srgbClr val="7D9029"/>
                </a:solidFill>
                <a:latin typeface="Courier"/>
              </a:rPr>
              <a:t>#[</a:t>
            </a:r>
            <a:r>
              <a:rPr>
                <a:latin typeface="Courier"/>
              </a:rPr>
              <a:t>derive</a:t>
            </a:r>
            <a:r>
              <a:rPr>
                <a:solidFill>
                  <a:srgbClr val="7D9029"/>
                </a:solidFill>
                <a:latin typeface="Courier"/>
              </a:rPr>
              <a:t>(</a:t>
            </a:r>
            <a:r>
              <a:rPr>
                <a:latin typeface="Courier"/>
              </a:rPr>
              <a:t>Delta</a:t>
            </a:r>
            <a:r>
              <a:rPr>
                <a:solidFill>
                  <a:srgbClr val="7D9029"/>
                </a:solidFill>
                <a:latin typeface="Courier"/>
              </a:rPr>
              <a:t>)]</a:t>
            </a:r>
            <a:br/>
            <a:r>
              <a:rPr>
                <a:solidFill>
                  <a:srgbClr val="7D9029"/>
                </a:solidFill>
                <a:latin typeface="Courier"/>
              </a:rPr>
              <a:t>#[</a:t>
            </a:r>
            <a:r>
              <a:rPr>
                <a:latin typeface="Courier"/>
              </a:rPr>
              <a:t>undoredo</a:t>
            </a:r>
            <a:r>
              <a:rPr>
                <a:solidFill>
                  <a:srgbClr val="7D9029"/>
                </a:solidFill>
                <a:latin typeface="Courier"/>
              </a:rPr>
              <a:t>(</a:t>
            </a:r>
            <a:r>
              <a:rPr>
                <a:latin typeface="Courier"/>
              </a:rPr>
              <a:t>delta </a:t>
            </a:r>
            <a:r>
              <a:rPr>
                <a:solidFill>
                  <a:srgbClr val="666666"/>
                </a:solidFill>
                <a:latin typeface="Courier"/>
              </a:rPr>
              <a:t>=</a:t>
            </a:r>
            <a:r>
              <a:rPr>
                <a:latin typeface="Courier"/>
              </a:rPr>
              <a:t> EntitiesDelta</a:t>
            </a:r>
            <a:r>
              <a:rPr>
                <a:solidFill>
                  <a:srgbClr val="7D9029"/>
                </a:solidFill>
                <a:latin typeface="Courier"/>
              </a:rPr>
              <a:t>)]</a:t>
            </a:r>
            <a:r>
              <a:rPr>
                <a:latin typeface="Courier"/>
              </a:rPr>
              <a:t> </a:t>
            </a:r>
            <a:r>
              <a:rPr i="1">
                <a:solidFill>
                  <a:srgbClr val="60A0B0"/>
                </a:solidFill>
                <a:latin typeface="Courier"/>
              </a:rPr>
              <a:t>// You can give the delta type your own name.</a:t>
            </a:r>
            <a:br/>
            <a:r>
              <a:rPr b="1">
                <a:solidFill>
                  <a:srgbClr val="007020"/>
                </a:solidFill>
                <a:latin typeface="Courier"/>
              </a:rPr>
              <a:t>pub</a:t>
            </a:r>
            <a:r>
              <a:rPr>
                <a:latin typeface="Courier"/>
              </a:rPr>
              <a:t> </a:t>
            </a:r>
            <a:r>
              <a:rPr b="1">
                <a:solidFill>
                  <a:srgbClr val="007020"/>
                </a:solidFill>
                <a:latin typeface="Courier"/>
              </a:rPr>
              <a:t>struct</a:t>
            </a:r>
            <a:r>
              <a:rPr>
                <a:latin typeface="Courier"/>
              </a:rPr>
              <a:t> Entities</a:t>
            </a:r>
            <a:r>
              <a:rPr>
                <a:solidFill>
                  <a:srgbClr val="666666"/>
                </a:solidFill>
                <a:latin typeface="Courier"/>
              </a:rPr>
              <a:t>&lt;</a:t>
            </a:r>
            <a:r>
              <a:rPr>
                <a:latin typeface="Courier"/>
              </a:rPr>
              <a:t>T</a:t>
            </a:r>
            <a:r>
              <a:rPr>
                <a:solidFill>
                  <a:srgbClr val="666666"/>
                </a:solidFill>
                <a:latin typeface="Courier"/>
              </a:rPr>
              <a:t>&gt;</a:t>
            </a:r>
            <a:r>
              <a:rPr>
                <a:latin typeface="Courier"/>
              </a:rPr>
              <a:t> </a:t>
            </a:r>
            <a:r>
              <a:rPr>
                <a:solidFill>
                  <a:srgbClr val="666666"/>
                </a:solidFill>
                <a:latin typeface="Courier"/>
              </a:rPr>
              <a:t>{</a:t>
            </a:r>
            <a:br/>
            <a:r>
              <a:rPr>
                <a:latin typeface="Courier"/>
              </a:rPr>
              <a:t>    positions</a:t>
            </a:r>
            <a:r>
              <a:rPr>
                <a:solidFill>
                  <a:srgbClr val="666666"/>
                </a:solidFill>
                <a:latin typeface="Courier"/>
              </a:rPr>
              <a:t>:</a:t>
            </a:r>
            <a:r>
              <a:rPr>
                <a:latin typeface="Courier"/>
              </a:rPr>
              <a:t> Recorder</a:t>
            </a:r>
            <a:r>
              <a:rPr>
                <a:solidFill>
                  <a:srgbClr val="666666"/>
                </a:solidFill>
                <a:latin typeface="Courier"/>
              </a:rPr>
              <a:t>&lt;</a:t>
            </a:r>
            <a:r>
              <a:rPr>
                <a:solidFill>
                  <a:srgbClr val="902000"/>
                </a:solidFill>
                <a:latin typeface="Courier"/>
              </a:rPr>
              <a:t>Vec</a:t>
            </a:r>
            <a:r>
              <a:rPr>
                <a:solidFill>
                  <a:srgbClr val="666666"/>
                </a:solidFill>
                <a:latin typeface="Courier"/>
              </a:rPr>
              <a:t>&lt;</a:t>
            </a:r>
            <a:r>
              <a:rPr>
                <a:latin typeface="Courier"/>
              </a:rPr>
              <a:t>Vector2</a:t>
            </a:r>
            <a:r>
              <a:rPr>
                <a:solidFill>
                  <a:srgbClr val="666666"/>
                </a:solidFill>
                <a:latin typeface="Courier"/>
              </a:rPr>
              <a:t>&lt;</a:t>
            </a:r>
            <a:r>
              <a:rPr>
                <a:latin typeface="Courier"/>
              </a:rPr>
              <a:t>T</a:t>
            </a:r>
            <a:r>
              <a:rPr>
                <a:solidFill>
                  <a:srgbClr val="666666"/>
                </a:solidFill>
                <a:latin typeface="Courier"/>
              </a:rPr>
              <a:t>&gt;&gt;&gt;,</a:t>
            </a:r>
            <a:br/>
            <a:r>
              <a:rPr>
                <a:latin typeface="Courier"/>
              </a:rPr>
              <a:t>    velocities</a:t>
            </a:r>
            <a:r>
              <a:rPr>
                <a:solidFill>
                  <a:srgbClr val="666666"/>
                </a:solidFill>
                <a:latin typeface="Courier"/>
              </a:rPr>
              <a:t>:</a:t>
            </a:r>
            <a:r>
              <a:rPr>
                <a:latin typeface="Courier"/>
              </a:rPr>
              <a:t> Recorder</a:t>
            </a:r>
            <a:r>
              <a:rPr>
                <a:solidFill>
                  <a:srgbClr val="666666"/>
                </a:solidFill>
                <a:latin typeface="Courier"/>
              </a:rPr>
              <a:t>&lt;</a:t>
            </a:r>
            <a:r>
              <a:rPr>
                <a:solidFill>
                  <a:srgbClr val="902000"/>
                </a:solidFill>
                <a:latin typeface="Courier"/>
              </a:rPr>
              <a:t>Vec</a:t>
            </a:r>
            <a:r>
              <a:rPr>
                <a:solidFill>
                  <a:srgbClr val="666666"/>
                </a:solidFill>
                <a:latin typeface="Courier"/>
              </a:rPr>
              <a:t>&lt;</a:t>
            </a:r>
            <a:r>
              <a:rPr>
                <a:latin typeface="Courier"/>
              </a:rPr>
              <a:t>Vector2</a:t>
            </a:r>
            <a:r>
              <a:rPr>
                <a:solidFill>
                  <a:srgbClr val="666666"/>
                </a:solidFill>
                <a:latin typeface="Courier"/>
              </a:rPr>
              <a:t>&lt;</a:t>
            </a:r>
            <a:r>
              <a:rPr>
                <a:latin typeface="Courier"/>
              </a:rPr>
              <a:t>T</a:t>
            </a:r>
            <a:r>
              <a:rPr>
                <a:solidFill>
                  <a:srgbClr val="666666"/>
                </a:solidFill>
                <a:latin typeface="Courier"/>
              </a:rPr>
              <a:t>&gt;&gt;&gt;,</a:t>
            </a:r>
            <a:br/>
            <a:r>
              <a:rPr>
                <a:latin typeface="Courier"/>
              </a:rPr>
              <a:t>    healths</a:t>
            </a:r>
            <a:r>
              <a:rPr>
                <a:solidFill>
                  <a:srgbClr val="666666"/>
                </a:solidFill>
                <a:latin typeface="Courier"/>
              </a:rPr>
              <a:t>:</a:t>
            </a:r>
            <a:r>
              <a:rPr>
                <a:latin typeface="Courier"/>
              </a:rPr>
              <a:t> Recorder</a:t>
            </a:r>
            <a:r>
              <a:rPr>
                <a:solidFill>
                  <a:srgbClr val="666666"/>
                </a:solidFill>
                <a:latin typeface="Courier"/>
              </a:rPr>
              <a:t>&lt;</a:t>
            </a:r>
            <a:r>
              <a:rPr>
                <a:solidFill>
                  <a:srgbClr val="902000"/>
                </a:solidFill>
                <a:latin typeface="Courier"/>
              </a:rPr>
              <a:t>Vec</a:t>
            </a:r>
            <a:r>
              <a:rPr>
                <a:solidFill>
                  <a:srgbClr val="666666"/>
                </a:solidFill>
                <a:latin typeface="Courier"/>
              </a:rPr>
              <a:t>&lt;</a:t>
            </a:r>
            <a:r>
              <a:rPr>
                <a:solidFill>
                  <a:srgbClr val="902000"/>
                </a:solidFill>
                <a:latin typeface="Courier"/>
              </a:rPr>
              <a:t>i64</a:t>
            </a:r>
            <a:r>
              <a:rPr>
                <a:solidFill>
                  <a:srgbClr val="666666"/>
                </a:solidFill>
                <a:latin typeface="Courier"/>
              </a:rPr>
              <a:t>&gt;&gt;,</a:t>
            </a:r>
            <a:br/>
            <a:r>
              <a:rPr>
                <a:latin typeface="Courier"/>
              </a:rPr>
              <a:t>    turn_counter</a:t>
            </a:r>
            <a:r>
              <a:rPr>
                <a:solidFill>
                  <a:srgbClr val="666666"/>
                </a:solidFill>
                <a:latin typeface="Courier"/>
              </a:rPr>
              <a:t>:</a:t>
            </a:r>
            <a:r>
              <a:rPr>
                <a:latin typeface="Courier"/>
              </a:rPr>
              <a:t> Recorder</a:t>
            </a:r>
            <a:r>
              <a:rPr>
                <a:solidFill>
                  <a:srgbClr val="666666"/>
                </a:solidFill>
                <a:latin typeface="Courier"/>
              </a:rPr>
              <a:t>&lt;</a:t>
            </a:r>
            <a:r>
              <a:rPr>
                <a:solidFill>
                  <a:srgbClr val="902000"/>
                </a:solidFill>
                <a:latin typeface="Courier"/>
              </a:rPr>
              <a:t>u64</a:t>
            </a:r>
            <a:r>
              <a:rPr>
                <a:solidFill>
                  <a:srgbClr val="666666"/>
                </a:solidFill>
                <a:latin typeface="Courier"/>
              </a:rPr>
              <a:t>&gt;,</a:t>
            </a:r>
            <a:br/>
            <a:r>
              <a:rPr>
                <a:latin typeface="Courier"/>
              </a:rPr>
              <a:t>    </a:t>
            </a:r>
            <a:r>
              <a:rPr>
                <a:solidFill>
                  <a:srgbClr val="7D9029"/>
                </a:solidFill>
                <a:latin typeface="Courier"/>
              </a:rPr>
              <a:t>#[</a:t>
            </a:r>
            <a:r>
              <a:rPr>
                <a:latin typeface="Courier"/>
              </a:rPr>
              <a:t>undoredo</a:t>
            </a:r>
            <a:r>
              <a:rPr>
                <a:solidFill>
                  <a:srgbClr val="7D9029"/>
                </a:solidFill>
                <a:latin typeface="Courier"/>
              </a:rPr>
              <a:t>(</a:t>
            </a:r>
            <a:r>
              <a:rPr>
                <a:latin typeface="Courier"/>
              </a:rPr>
              <a:t>skip</a:t>
            </a:r>
            <a:r>
              <a:rPr>
                <a:solidFill>
                  <a:srgbClr val="7D9029"/>
                </a:solidFill>
                <a:latin typeface="Courier"/>
              </a:rPr>
              <a:t>)]</a:t>
            </a:r>
            <a:r>
              <a:rPr>
                <a:latin typeface="Courier"/>
              </a:rPr>
              <a:t> </a:t>
            </a:r>
            <a:r>
              <a:rPr i="1">
                <a:solidFill>
                  <a:srgbClr val="60A0B0"/>
                </a:solidFill>
                <a:latin typeface="Courier"/>
              </a:rPr>
              <a:t>// You can skip fields.</a:t>
            </a:r>
            <a:br/>
            <a:r>
              <a:rPr>
                <a:latin typeface="Courier"/>
              </a:rPr>
              <a:t>    not_in_delta</a:t>
            </a:r>
            <a:r>
              <a:rPr>
                <a:solidFill>
                  <a:srgbClr val="666666"/>
                </a:solidFill>
                <a:latin typeface="Courier"/>
              </a:rPr>
              <a:t>:</a:t>
            </a:r>
            <a:r>
              <a:rPr>
                <a:latin typeface="Courier"/>
              </a:rPr>
              <a:t> </a:t>
            </a:r>
            <a:r>
              <a:rPr>
                <a:solidFill>
                  <a:srgbClr val="902000"/>
                </a:solidFill>
                <a:latin typeface="Courier"/>
              </a:rPr>
              <a:t>String</a:t>
            </a:r>
            <a:r>
              <a:rPr>
                <a:solidFill>
                  <a:srgbClr val="666666"/>
                </a:solidFill>
                <a:latin typeface="Courier"/>
              </a:rPr>
              <a:t>,</a:t>
            </a:r>
            <a:br/>
            <a:r>
              <a:rPr>
                <a:solidFill>
                  <a:srgbClr val="666666"/>
                </a:solidFill>
                <a:latin typeface="Courier"/>
              </a:rPr>
              <a:t>}</a:t>
            </a:r>
          </a:p>
          <a:p>
            <a:pPr lvl="0" indent="0">
              <a:buNone/>
            </a:pPr>
            <a:r>
              <a:rPr b="1">
                <a:solidFill>
                  <a:srgbClr val="007020"/>
                </a:solidFill>
                <a:latin typeface="Courier"/>
              </a:rPr>
              <a:t>let</a:t>
            </a:r>
            <a:r>
              <a:rPr>
                <a:latin typeface="Courier"/>
              </a:rPr>
              <a:t> </a:t>
            </a:r>
            <a:r>
              <a:rPr b="1">
                <a:solidFill>
                  <a:srgbClr val="007020"/>
                </a:solidFill>
                <a:latin typeface="Courier"/>
              </a:rPr>
              <a:t>mut</a:t>
            </a:r>
            <a:r>
              <a:rPr>
                <a:latin typeface="Courier"/>
              </a:rPr>
              <a:t> entities</a:t>
            </a:r>
            <a:r>
              <a:rPr>
                <a:solidFill>
                  <a:srgbClr val="666666"/>
                </a:solidFill>
                <a:latin typeface="Courier"/>
              </a:rPr>
              <a:t>:</a:t>
            </a:r>
            <a:r>
              <a:rPr>
                <a:latin typeface="Courier"/>
              </a:rPr>
              <a:t> Entities </a:t>
            </a:r>
            <a:r>
              <a:rPr>
                <a:solidFill>
                  <a:srgbClr val="666666"/>
                </a:solidFill>
                <a:latin typeface="Courier"/>
              </a:rPr>
              <a:t>=</a:t>
            </a:r>
            <a:r>
              <a:rPr>
                <a:latin typeface="Courier"/>
              </a:rPr>
              <a:t> </a:t>
            </a:r>
            <a:r>
              <a:rPr>
                <a:solidFill>
                  <a:srgbClr val="BC7A00"/>
                </a:solidFill>
                <a:latin typeface="Courier"/>
              </a:rPr>
              <a:t>Entities::</a:t>
            </a:r>
            <a:r>
              <a:rPr>
                <a:latin typeface="Courier"/>
              </a:rPr>
              <a:t>new()</a:t>
            </a:r>
            <a:r>
              <a:rPr>
                <a:solidFill>
                  <a:srgbClr val="666666"/>
                </a:solidFill>
                <a:latin typeface="Courier"/>
              </a:rPr>
              <a:t>;</a:t>
            </a:r>
            <a:br/>
            <a:r>
              <a:rPr b="1">
                <a:solidFill>
                  <a:srgbClr val="007020"/>
                </a:solidFill>
                <a:latin typeface="Courier"/>
              </a:rPr>
              <a:t>let</a:t>
            </a:r>
            <a:r>
              <a:rPr>
                <a:latin typeface="Courier"/>
              </a:rPr>
              <a:t> </a:t>
            </a:r>
            <a:r>
              <a:rPr b="1">
                <a:solidFill>
                  <a:srgbClr val="007020"/>
                </a:solidFill>
                <a:latin typeface="Courier"/>
              </a:rPr>
              <a:t>mut</a:t>
            </a:r>
            <a:r>
              <a:rPr>
                <a:latin typeface="Courier"/>
              </a:rPr>
              <a:t> undoredo</a:t>
            </a:r>
            <a:r>
              <a:rPr>
                <a:solidFill>
                  <a:srgbClr val="666666"/>
                </a:solidFill>
                <a:latin typeface="Courier"/>
              </a:rPr>
              <a:t>:</a:t>
            </a:r>
            <a:r>
              <a:rPr>
                <a:latin typeface="Courier"/>
              </a:rPr>
              <a:t> UndoRedo</a:t>
            </a:r>
            <a:r>
              <a:rPr>
                <a:solidFill>
                  <a:srgbClr val="666666"/>
                </a:solidFill>
                <a:latin typeface="Courier"/>
              </a:rPr>
              <a:t>&lt;</a:t>
            </a:r>
            <a:r>
              <a:rPr>
                <a:latin typeface="Courier"/>
              </a:rPr>
              <a:t>EntitiesDelta</a:t>
            </a:r>
            <a:r>
              <a:rPr>
                <a:solidFill>
                  <a:srgbClr val="666666"/>
                </a:solidFill>
                <a:latin typeface="Courier"/>
              </a:rPr>
              <a:t>&lt;</a:t>
            </a:r>
            <a:r>
              <a:rPr>
                <a:solidFill>
                  <a:srgbClr val="902000"/>
                </a:solidFill>
                <a:latin typeface="Courier"/>
              </a:rPr>
              <a:t>f64</a:t>
            </a:r>
            <a:r>
              <a:rPr>
                <a:solidFill>
                  <a:srgbClr val="666666"/>
                </a:solidFill>
                <a:latin typeface="Courier"/>
              </a:rPr>
              <a:t>&gt;&gt;&gt;</a:t>
            </a:r>
            <a:r>
              <a:rPr>
                <a:latin typeface="Courier"/>
              </a:rPr>
              <a:t> </a:t>
            </a:r>
            <a:r>
              <a:rPr>
                <a:solidFill>
                  <a:srgbClr val="666666"/>
                </a:solidFill>
                <a:latin typeface="Courier"/>
              </a:rPr>
              <a:t>=</a:t>
            </a:r>
            <a:r>
              <a:rPr>
                <a:latin typeface="Courier"/>
              </a:rPr>
              <a:t> </a:t>
            </a:r>
            <a:r>
              <a:rPr>
                <a:solidFill>
                  <a:srgbClr val="BC7A00"/>
                </a:solidFill>
                <a:latin typeface="Courier"/>
              </a:rPr>
              <a:t>UndoRedo::</a:t>
            </a:r>
            <a:r>
              <a:rPr>
                <a:latin typeface="Courier"/>
              </a:rPr>
              <a:t>new()</a:t>
            </a:r>
            <a:r>
              <a:rPr>
                <a:solidFill>
                  <a:srgbClr val="666666"/>
                </a:solidFill>
                <a:latin typeface="Courier"/>
              </a:rPr>
              <a:t>;</a:t>
            </a:r>
          </a:p>
          <a:p>
            <a:pPr lvl="0" indent="0" marL="0">
              <a:buNone/>
            </a:pPr>
            <a:r>
              <a:rPr/>
              <a:t>Then entities are updated:</a:t>
            </a:r>
          </a:p>
          <a:p>
            <a:pPr lvl="0" indent="0">
              <a:buNone/>
            </a:pPr>
            <a:r>
              <a:rPr>
                <a:latin typeface="Courier"/>
              </a:rPr>
              <a:t>entities</a:t>
            </a:r>
            <a:r>
              <a:rPr>
                <a:solidFill>
                  <a:srgbClr val="666666"/>
                </a:solidFill>
                <a:latin typeface="Courier"/>
              </a:rPr>
              <a:t>.</a:t>
            </a:r>
            <a:r>
              <a:rPr>
                <a:latin typeface="Courier"/>
              </a:rPr>
              <a:t>update()</a:t>
            </a:r>
            <a:r>
              <a:rPr>
                <a:solidFill>
                  <a:srgbClr val="666666"/>
                </a:solidFill>
                <a:latin typeface="Courier"/>
              </a:rPr>
              <a:t>;</a:t>
            </a:r>
          </a:p>
          <a:p>
            <a:pPr lvl="0" indent="0" marL="0">
              <a:buNone/>
            </a:pPr>
            <a:r>
              <a:rPr/>
              <a:t>Like in previous examples, then you can just:</a:t>
            </a:r>
          </a:p>
          <a:p>
            <a:pPr lvl="0" indent="0">
              <a:buNone/>
            </a:pPr>
            <a:r>
              <a:rPr>
                <a:latin typeface="Courier"/>
              </a:rPr>
              <a:t>undoredo</a:t>
            </a:r>
            <a:r>
              <a:rPr>
                <a:solidFill>
                  <a:srgbClr val="666666"/>
                </a:solidFill>
                <a:latin typeface="Courier"/>
              </a:rPr>
              <a:t>.</a:t>
            </a:r>
            <a:r>
              <a:rPr>
                <a:latin typeface="Courier"/>
              </a:rPr>
              <a:t>commit(</a:t>
            </a:r>
            <a:r>
              <a:rPr>
                <a:solidFill>
                  <a:srgbClr val="666666"/>
                </a:solidFill>
                <a:latin typeface="Courier"/>
              </a:rPr>
              <a:t>&amp;</a:t>
            </a:r>
            <a:r>
              <a:rPr b="1">
                <a:solidFill>
                  <a:srgbClr val="007020"/>
                </a:solidFill>
                <a:latin typeface="Courier"/>
              </a:rPr>
              <a:t>mut</a:t>
            </a:r>
            <a:r>
              <a:rPr>
                <a:latin typeface="Courier"/>
              </a:rPr>
              <a:t> entities)</a:t>
            </a:r>
            <a:r>
              <a:rPr>
                <a:solidFill>
                  <a:srgbClr val="666666"/>
                </a:solidFill>
                <a:latin typeface="Courier"/>
              </a:rPr>
              <a:t>;</a:t>
            </a:r>
          </a:p>
          <a:p>
            <a:pPr lvl="0" indent="0">
              <a:buNone/>
            </a:pPr>
            <a:r>
              <a:rPr>
                <a:latin typeface="Courier"/>
              </a:rPr>
              <a:t>undoredo</a:t>
            </a:r>
            <a:r>
              <a:rPr>
                <a:solidFill>
                  <a:srgbClr val="666666"/>
                </a:solidFill>
                <a:latin typeface="Courier"/>
              </a:rPr>
              <a:t>.</a:t>
            </a:r>
            <a:r>
              <a:rPr>
                <a:latin typeface="Courier"/>
              </a:rPr>
              <a:t>undo(</a:t>
            </a:r>
            <a:r>
              <a:rPr>
                <a:solidFill>
                  <a:srgbClr val="666666"/>
                </a:solidFill>
                <a:latin typeface="Courier"/>
              </a:rPr>
              <a:t>&amp;</a:t>
            </a:r>
            <a:r>
              <a:rPr b="1">
                <a:solidFill>
                  <a:srgbClr val="007020"/>
                </a:solidFill>
                <a:latin typeface="Courier"/>
              </a:rPr>
              <a:t>mut</a:t>
            </a:r>
            <a:r>
              <a:rPr>
                <a:latin typeface="Courier"/>
              </a:rPr>
              <a:t> entities)</a:t>
            </a:r>
            <a:r>
              <a:rPr>
                <a:solidFill>
                  <a:srgbClr val="666666"/>
                </a:solidFill>
                <a:latin typeface="Courier"/>
              </a:rPr>
              <a:t>;</a:t>
            </a:r>
          </a:p>
          <a:p>
            <a:pPr lvl="0" indent="0">
              <a:buNone/>
            </a:pPr>
            <a:r>
              <a:rPr>
                <a:latin typeface="Courier"/>
              </a:rPr>
              <a:t>undoredo</a:t>
            </a:r>
            <a:r>
              <a:rPr>
                <a:solidFill>
                  <a:srgbClr val="666666"/>
                </a:solidFill>
                <a:latin typeface="Courier"/>
              </a:rPr>
              <a:t>.</a:t>
            </a:r>
            <a:r>
              <a:rPr>
                <a:latin typeface="Courier"/>
              </a:rPr>
              <a:t>redo(</a:t>
            </a:r>
            <a:r>
              <a:rPr>
                <a:solidFill>
                  <a:srgbClr val="666666"/>
                </a:solidFill>
                <a:latin typeface="Courier"/>
              </a:rPr>
              <a:t>&amp;</a:t>
            </a:r>
            <a:r>
              <a:rPr b="1">
                <a:solidFill>
                  <a:srgbClr val="007020"/>
                </a:solidFill>
                <a:latin typeface="Courier"/>
              </a:rPr>
              <a:t>mut</a:t>
            </a:r>
            <a:r>
              <a:rPr>
                <a:latin typeface="Courier"/>
              </a:rPr>
              <a:t> entities)</a:t>
            </a:r>
            <a:r>
              <a:rPr>
                <a:solidFill>
                  <a:srgbClr val="666666"/>
                </a:solidFill>
                <a:latin typeface="Courier"/>
              </a:rPr>
              <a: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Convenience implementations for </a:t>
            </a:r>
            <a:r>
              <a:rPr>
                <a:latin typeface="Courier"/>
              </a:rPr>
              <a:t>std</a:t>
            </a:r>
          </a:p>
        </p:txBody>
      </p:sp>
      <p:sp>
        <p:nvSpPr>
          <p:cNvPr id="3" name="Content Placeholder 2"/>
          <p:cNvSpPr>
            <a:spLocks noGrp="1"/>
          </p:cNvSpPr>
          <p:nvPr>
            <p:ph idx="1"/>
          </p:nvPr>
        </p:nvSpPr>
        <p:spPr/>
        <p:txBody>
          <a:bodyPr/>
          <a:lstStyle/>
          <a:p>
            <a:pPr lvl="0" indent="0" marL="0">
              <a:buNone/>
            </a:pPr>
            <a:r>
              <a:rPr/>
              <a:t>You can’t do </a:t>
            </a:r>
            <a:r>
              <a:rPr>
                <a:latin typeface="Courier"/>
              </a:rPr>
              <a:t>#[derive(Delta)]</a:t>
            </a:r>
            <a:r>
              <a:rPr/>
              <a:t> on types you don’t own, so </a:t>
            </a:r>
            <a:r>
              <a:rPr>
                <a:latin typeface="Courier"/>
              </a:rPr>
              <a:t>undoredo</a:t>
            </a:r>
            <a:r>
              <a:rPr/>
              <a:t> supplies its own convenience implementations of deltas for </a:t>
            </a:r>
            <a:r>
              <a:rPr>
                <a:latin typeface="Courier"/>
              </a:rPr>
              <a:t>std</a:t>
            </a:r>
            <a:r>
              <a:rPr/>
              <a:t> types:</a:t>
            </a:r>
          </a:p>
          <a:p>
            <a:pPr lvl="0"/>
            <a:r>
              <a:rPr>
                <a:latin typeface="Courier"/>
              </a:rPr>
              <a:t>HashMap</a:t>
            </a:r>
            <a:r>
              <a:rPr/>
              <a:t>,</a:t>
            </a:r>
          </a:p>
          <a:p>
            <a:pPr lvl="0"/>
            <a:r>
              <a:rPr>
                <a:latin typeface="Courier"/>
              </a:rPr>
              <a:t>HashSet</a:t>
            </a:r>
            <a:r>
              <a:rPr/>
              <a:t>,</a:t>
            </a:r>
          </a:p>
          <a:p>
            <a:pPr lvl="0"/>
            <a:r>
              <a:rPr>
                <a:latin typeface="Courier"/>
              </a:rPr>
              <a:t>BTreeMap</a:t>
            </a:r>
            <a:r>
              <a:rPr/>
              <a:t>,</a:t>
            </a:r>
          </a:p>
          <a:p>
            <a:pPr lvl="0"/>
            <a:r>
              <a:rPr>
                <a:latin typeface="Courier"/>
              </a:rPr>
              <a:t>BTreeSet</a:t>
            </a:r>
          </a:p>
          <a:p>
            <a:pPr lvl="0"/>
            <a:r>
              <a:rPr>
                <a:latin typeface="Courier"/>
              </a:rPr>
              <a:t>Vec</a:t>
            </a:r>
            <a:r>
              <a:rPr/>
              <a:t>.</a:t>
            </a:r>
          </a:p>
          <a:p>
            <a:pPr lvl="0" indent="0" marL="0">
              <a:buNone/>
            </a:pPr>
            <a:r>
              <a:rPr/>
              <a:t>Example for </a:t>
            </a:r>
            <a:r>
              <a:rPr>
                <a:latin typeface="Courier"/>
              </a:rPr>
              <a:t>Vec</a:t>
            </a:r>
            <a:r>
              <a:rPr/>
              <a:t>:</a:t>
            </a:r>
          </a:p>
          <a:p>
            <a:pPr lvl="0" indent="0" marL="0">
              <a:buNone/>
            </a:pPr>
            <a:r>
              <a:rPr/>
              <a:t>Import delta type for </a:t>
            </a:r>
            <a:r>
              <a:rPr>
                <a:latin typeface="Courier"/>
              </a:rPr>
              <a:t>Vec</a:t>
            </a:r>
            <a:r>
              <a:rPr/>
              <a:t>:</a:t>
            </a:r>
          </a:p>
          <a:p>
            <a:pPr lvl="0" indent="0">
              <a:buNone/>
            </a:pPr>
            <a:r>
              <a:rPr b="1">
                <a:solidFill>
                  <a:srgbClr val="007020"/>
                </a:solidFill>
                <a:latin typeface="Courier"/>
              </a:rPr>
              <a:t>use</a:t>
            </a:r>
            <a:r>
              <a:rPr>
                <a:latin typeface="Courier"/>
              </a:rPr>
              <a:t> </a:t>
            </a:r>
            <a:r>
              <a:rPr>
                <a:solidFill>
                  <a:srgbClr val="BC7A00"/>
                </a:solidFill>
                <a:latin typeface="Courier"/>
              </a:rPr>
              <a:t>undoredo::aliases::</a:t>
            </a:r>
            <a:r>
              <a:rPr>
                <a:latin typeface="Courier"/>
              </a:rPr>
              <a:t>VecDelta</a:t>
            </a:r>
            <a:r>
              <a:rPr>
                <a:solidFill>
                  <a:srgbClr val="666666"/>
                </a:solidFill>
                <a:latin typeface="Courier"/>
              </a:rPr>
              <a:t>;</a:t>
            </a:r>
          </a:p>
          <a:p>
            <a:pPr lvl="0" indent="0" marL="0">
              <a:buNone/>
            </a:pPr>
            <a:r>
              <a:rPr/>
              <a:t>Then just like previously:</a:t>
            </a:r>
          </a:p>
          <a:p>
            <a:pPr lvl="0" indent="0">
              <a:buNone/>
            </a:pPr>
            <a:r>
              <a:rPr b="1">
                <a:solidFill>
                  <a:srgbClr val="007020"/>
                </a:solidFill>
                <a:latin typeface="Courier"/>
              </a:rPr>
              <a:t>let</a:t>
            </a:r>
            <a:r>
              <a:rPr>
                <a:latin typeface="Courier"/>
              </a:rPr>
              <a:t> </a:t>
            </a:r>
            <a:r>
              <a:rPr b="1">
                <a:solidFill>
                  <a:srgbClr val="007020"/>
                </a:solidFill>
                <a:latin typeface="Courier"/>
              </a:rPr>
              <a:t>mut</a:t>
            </a:r>
            <a:r>
              <a:rPr>
                <a:latin typeface="Courier"/>
              </a:rPr>
              <a:t> vec</a:t>
            </a:r>
            <a:r>
              <a:rPr>
                <a:solidFill>
                  <a:srgbClr val="666666"/>
                </a:solidFill>
                <a:latin typeface="Courier"/>
              </a:rPr>
              <a:t>:</a:t>
            </a:r>
            <a:r>
              <a:rPr>
                <a:latin typeface="Courier"/>
              </a:rPr>
              <a:t> </a:t>
            </a:r>
            <a:r>
              <a:rPr>
                <a:solidFill>
                  <a:srgbClr val="902000"/>
                </a:solidFill>
                <a:latin typeface="Courier"/>
              </a:rPr>
              <a:t>Vec</a:t>
            </a:r>
            <a:r>
              <a:rPr>
                <a:solidFill>
                  <a:srgbClr val="666666"/>
                </a:solidFill>
                <a:latin typeface="Courier"/>
              </a:rPr>
              <a:t>&lt;</a:t>
            </a:r>
            <a:r>
              <a:rPr>
                <a:solidFill>
                  <a:srgbClr val="902000"/>
                </a:solidFill>
                <a:latin typeface="Courier"/>
              </a:rPr>
              <a:t>i64</a:t>
            </a:r>
            <a:r>
              <a:rPr>
                <a:solidFill>
                  <a:srgbClr val="666666"/>
                </a:solidFill>
                <a:latin typeface="Courier"/>
              </a:rPr>
              <a:t>&gt;</a:t>
            </a:r>
            <a:r>
              <a:rPr>
                <a:latin typeface="Courier"/>
              </a:rPr>
              <a:t> </a:t>
            </a:r>
            <a:r>
              <a:rPr>
                <a:solidFill>
                  <a:srgbClr val="666666"/>
                </a:solidFill>
                <a:latin typeface="Courier"/>
              </a:rPr>
              <a:t>=</a:t>
            </a:r>
            <a:r>
              <a:rPr>
                <a:latin typeface="Courier"/>
              </a:rPr>
              <a:t> </a:t>
            </a:r>
            <a:r>
              <a:rPr>
                <a:solidFill>
                  <a:srgbClr val="902000"/>
                </a:solidFill>
                <a:latin typeface="Courier"/>
              </a:rPr>
              <a:t>Vec</a:t>
            </a:r>
            <a:r>
              <a:rPr>
                <a:solidFill>
                  <a:srgbClr val="BC7A00"/>
                </a:solidFill>
                <a:latin typeface="Courier"/>
              </a:rPr>
              <a:t>::</a:t>
            </a:r>
            <a:r>
              <a:rPr>
                <a:latin typeface="Courier"/>
              </a:rPr>
              <a:t>new()</a:t>
            </a:r>
            <a:r>
              <a:rPr>
                <a:solidFill>
                  <a:srgbClr val="666666"/>
                </a:solidFill>
                <a:latin typeface="Courier"/>
              </a:rPr>
              <a:t>;</a:t>
            </a:r>
            <a:br/>
            <a:r>
              <a:rPr b="1">
                <a:solidFill>
                  <a:srgbClr val="007020"/>
                </a:solidFill>
                <a:latin typeface="Courier"/>
              </a:rPr>
              <a:t>let</a:t>
            </a:r>
            <a:r>
              <a:rPr>
                <a:latin typeface="Courier"/>
              </a:rPr>
              <a:t> </a:t>
            </a:r>
            <a:r>
              <a:rPr b="1">
                <a:solidFill>
                  <a:srgbClr val="007020"/>
                </a:solidFill>
                <a:latin typeface="Courier"/>
              </a:rPr>
              <a:t>mut</a:t>
            </a:r>
            <a:r>
              <a:rPr>
                <a:latin typeface="Courier"/>
              </a:rPr>
              <a:t> undoredo</a:t>
            </a:r>
            <a:r>
              <a:rPr>
                <a:solidFill>
                  <a:srgbClr val="666666"/>
                </a:solidFill>
                <a:latin typeface="Courier"/>
              </a:rPr>
              <a:t>:</a:t>
            </a:r>
            <a:r>
              <a:rPr>
                <a:latin typeface="Courier"/>
              </a:rPr>
              <a:t> UndoRedo</a:t>
            </a:r>
            <a:r>
              <a:rPr>
                <a:solidFill>
                  <a:srgbClr val="666666"/>
                </a:solidFill>
                <a:latin typeface="Courier"/>
              </a:rPr>
              <a:t>&lt;</a:t>
            </a:r>
            <a:r>
              <a:rPr>
                <a:latin typeface="Courier"/>
              </a:rPr>
              <a:t>VecDelta</a:t>
            </a:r>
            <a:r>
              <a:rPr>
                <a:solidFill>
                  <a:srgbClr val="666666"/>
                </a:solidFill>
                <a:latin typeface="Courier"/>
              </a:rPr>
              <a:t>&lt;</a:t>
            </a:r>
            <a:r>
              <a:rPr>
                <a:solidFill>
                  <a:srgbClr val="902000"/>
                </a:solidFill>
                <a:latin typeface="Courier"/>
              </a:rPr>
              <a:t>i64</a:t>
            </a:r>
            <a:r>
              <a:rPr>
                <a:solidFill>
                  <a:srgbClr val="666666"/>
                </a:solidFill>
                <a:latin typeface="Courier"/>
              </a:rPr>
              <a:t>&gt;&gt;&gt;</a:t>
            </a:r>
            <a:r>
              <a:rPr>
                <a:latin typeface="Courier"/>
              </a:rPr>
              <a:t> </a:t>
            </a:r>
            <a:r>
              <a:rPr>
                <a:solidFill>
                  <a:srgbClr val="666666"/>
                </a:solidFill>
                <a:latin typeface="Courier"/>
              </a:rPr>
              <a:t>=</a:t>
            </a:r>
            <a:r>
              <a:rPr>
                <a:latin typeface="Courier"/>
              </a:rPr>
              <a:t> </a:t>
            </a:r>
            <a:r>
              <a:rPr>
                <a:solidFill>
                  <a:srgbClr val="BC7A00"/>
                </a:solidFill>
                <a:latin typeface="Courier"/>
              </a:rPr>
              <a:t>UndoRedo::</a:t>
            </a:r>
            <a:r>
              <a:rPr>
                <a:latin typeface="Courier"/>
              </a:rPr>
              <a:t>new()</a:t>
            </a:r>
            <a:r>
              <a:rPr>
                <a:solidFill>
                  <a:srgbClr val="666666"/>
                </a:solidFill>
                <a:latin typeface="Courier"/>
              </a:rPr>
              <a:t>;</a:t>
            </a:r>
          </a:p>
          <a:p>
            <a:pPr lvl="0" indent="0" marL="0">
              <a:buNone/>
            </a:pPr>
            <a:r>
              <a:rPr/>
              <a:t>And then you can do </a:t>
            </a:r>
            <a:r>
              <a:rPr>
                <a:latin typeface="Courier"/>
              </a:rPr>
              <a:t>.commit()</a:t>
            </a:r>
            <a:r>
              <a:rPr/>
              <a:t>, </a:t>
            </a:r>
            <a:r>
              <a:rPr>
                <a:latin typeface="Courier"/>
              </a:rPr>
              <a:t>.undo()</a:t>
            </a:r>
            <a:r>
              <a:rPr/>
              <a:t>, </a:t>
            </a:r>
            <a:r>
              <a:rPr>
                <a:latin typeface="Courier"/>
              </a:rPr>
              <a:t>.redo()</a:t>
            </a:r>
            <a:r>
              <a:rPr/>
              <a:t> like in previous examples.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Convenience implementations for third-party crates</a:t>
            </a:r>
          </a:p>
        </p:txBody>
      </p:sp>
      <p:sp>
        <p:nvSpPr>
          <p:cNvPr id="3" name="Content Placeholder 2"/>
          <p:cNvSpPr>
            <a:spLocks noGrp="1"/>
          </p:cNvSpPr>
          <p:nvPr>
            <p:ph idx="1"/>
          </p:nvPr>
        </p:nvSpPr>
        <p:spPr/>
        <p:txBody>
          <a:bodyPr/>
          <a:lstStyle/>
          <a:p>
            <a:pPr lvl="0" indent="0" marL="0">
              <a:buNone/>
            </a:pPr>
            <a:r>
              <a:rPr/>
              <a:t>There are also ready feature-gated implementations of deltas for types from third-party crates:</a:t>
            </a:r>
          </a:p>
          <a:p>
            <a:pPr lvl="0"/>
            <a:r>
              <a:rPr>
                <a:latin typeface="Courier"/>
              </a:rPr>
              <a:t>BiHashMap</a:t>
            </a:r>
            <a:r>
              <a:rPr/>
              <a:t> and </a:t>
            </a:r>
            <a:r>
              <a:rPr>
                <a:latin typeface="Courier"/>
              </a:rPr>
              <a:t>BiBTreeMap</a:t>
            </a:r>
            <a:r>
              <a:rPr/>
              <a:t> from </a:t>
            </a:r>
            <a:r>
              <a:rPr>
                <a:latin typeface="Courier"/>
              </a:rPr>
              <a:t>bidimap</a:t>
            </a:r>
            <a:r>
              <a:rPr/>
              <a:t> crate (bidirectional maps from maintained fork of </a:t>
            </a:r>
            <a:r>
              <a:rPr>
                <a:latin typeface="Courier"/>
              </a:rPr>
              <a:t>bimap</a:t>
            </a:r>
            <a:r>
              <a:rPr/>
              <a:t>),</a:t>
            </a:r>
          </a:p>
          <a:p>
            <a:pPr lvl="0"/>
            <a:r>
              <a:rPr>
                <a:latin typeface="Courier"/>
              </a:rPr>
              <a:t>RTree</a:t>
            </a:r>
            <a:r>
              <a:rPr/>
              <a:t> from </a:t>
            </a:r>
            <a:r>
              <a:rPr>
                <a:latin typeface="Courier"/>
              </a:rPr>
              <a:t>rstar</a:t>
            </a:r>
            <a:r>
              <a:rPr/>
              <a:t> crate (R-tree for spatial access);</a:t>
            </a:r>
          </a:p>
          <a:p>
            <a:pPr lvl="0"/>
            <a:r>
              <a:rPr>
                <a:latin typeface="Courier"/>
              </a:rPr>
              <a:t>StableVec</a:t>
            </a:r>
            <a:r>
              <a:rPr/>
              <a:t> from </a:t>
            </a:r>
            <a:r>
              <a:rPr>
                <a:latin typeface="Courier"/>
              </a:rPr>
              <a:t>stable-vec</a:t>
            </a:r>
            <a:r>
              <a:rPr/>
              <a:t> crate (basically, </a:t>
            </a:r>
            <a:r>
              <a:rPr>
                <a:latin typeface="Courier"/>
              </a:rPr>
              <a:t>Vec</a:t>
            </a:r>
            <a:r>
              <a:rPr/>
              <a:t> without index invalidation on remove);</a:t>
            </a:r>
          </a:p>
          <a:p>
            <a:pPr lvl="0"/>
            <a:r>
              <a:rPr>
                <a:latin typeface="Courier"/>
              </a:rPr>
              <a:t>Arena</a:t>
            </a:r>
            <a:r>
              <a:rPr/>
              <a:t> from </a:t>
            </a:r>
            <a:r>
              <a:rPr>
                <a:latin typeface="Courier"/>
              </a:rPr>
              <a:t>thunderdome</a:t>
            </a:r>
            <a:r>
              <a:rPr/>
              <a:t> crate.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Electronic Design Automation</a:t>
            </a:r>
          </a:p>
        </p:txBody>
      </p:sp>
      <p:sp>
        <p:nvSpPr>
          <p:cNvPr id="3" name="Content Placeholder 2"/>
          <p:cNvSpPr>
            <a:spLocks noGrp="1"/>
          </p:cNvSpPr>
          <p:nvPr>
            <p:ph idx="1"/>
          </p:nvPr>
        </p:nvSpPr>
        <p:spPr/>
        <p:txBody>
          <a:bodyPr/>
          <a:lstStyle/>
          <a:p>
            <a:pPr lvl="0" indent="0" marL="0">
              <a:buNone/>
            </a:pPr>
            <a:r>
              <a:rPr/>
              <a:t>Delta-based undo-redo of moving with mouse drag:</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Electronic Design Automation</a:t>
            </a:r>
          </a:p>
        </p:txBody>
      </p:sp>
      <p:pic>
        <p:nvPicPr>
          <p:cNvPr descr="component_move_demo.gif" id="0" name="Picture 1"/>
          <p:cNvPicPr>
            <a:picLocks noGrp="1" noChangeAspect="1"/>
          </p:cNvPicPr>
          <p:nvPr/>
        </p:nvPicPr>
        <p:blipFill>
          <a:blip r:embed="rId2"/>
          <a:stretch>
            <a:fillRect/>
          </a:stretch>
        </p:blipFill>
        <p:spPr bwMode="auto">
          <a:xfrm>
            <a:off x="2222500" y="1193800"/>
            <a:ext cx="4699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component_move_demo.gif</a:t>
            </a:r>
          </a:p>
        </p:txBody>
      </p:sp>
      <p:sp>
        <p:nvSpPr>
          <p:cNvPr id="3" name="Content Placeholder 2"/>
          <p:cNvSpPr>
            <a:spLocks noGrp="1"/>
          </p:cNvSpPr>
          <p:nvPr>
            <p:ph idx="1"/>
          </p:nvPr>
        </p:nvSpPr>
        <p:spPr/>
        <p:txBody>
          <a:bodyPr/>
          <a:lstStyle/>
          <a:p>
            <a:pPr lvl="0" indent="0" marL="0">
              <a:buNone/>
            </a:pPr>
            <a:r>
              <a:rPr/>
              <a:t>This is done using </a:t>
            </a:r>
            <a:r>
              <a:rPr>
                <a:latin typeface="Courier"/>
              </a:rPr>
              <a:t>undoredo</a:t>
            </a:r>
            <a:r>
              <a:rPr/>
              <a:t>’s deltas.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Simulated Annealing</a:t>
            </a:r>
          </a:p>
        </p:txBody>
      </p:sp>
      <p:sp>
        <p:nvSpPr>
          <p:cNvPr id="3" name="Content Placeholder 2"/>
          <p:cNvSpPr>
            <a:spLocks noGrp="1"/>
          </p:cNvSpPr>
          <p:nvPr>
            <p:ph idx="1"/>
          </p:nvPr>
        </p:nvSpPr>
        <p:spPr/>
        <p:txBody>
          <a:bodyPr/>
          <a:lstStyle/>
          <a:p>
            <a:pPr lvl="0" indent="0" marL="0">
              <a:buNone/>
            </a:pPr>
            <a:r>
              <a:rPr/>
              <a:t>Simulated annealing is a probabilistic algorithm often used for automatic placement of components on a PCB layout.</a:t>
            </a:r>
          </a:p>
          <a:p>
            <a:pPr lvl="0" indent="0" marL="0">
              <a:buNone/>
            </a:pPr>
            <a:r>
              <a:rPr/>
              <a:t>Finding maximum in one dimension using with simulated annealing:</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Simulated Annealing</a:t>
            </a:r>
          </a:p>
        </p:txBody>
      </p:sp>
      <p:pic>
        <p:nvPicPr>
          <p:cNvPr descr="hill_climbing_with_simulated_annealing.gif" id="0" name="Picture 1"/>
          <p:cNvPicPr>
            <a:picLocks noGrp="1" noChangeAspect="1"/>
          </p:cNvPicPr>
          <p:nvPr/>
        </p:nvPicPr>
        <p:blipFill>
          <a:blip r:embed="rId2"/>
          <a:stretch>
            <a:fillRect/>
          </a:stretch>
        </p:blipFill>
        <p:spPr bwMode="auto">
          <a:xfrm>
            <a:off x="457200" y="1308100"/>
            <a:ext cx="8229600" cy="26543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hill_climbing_with_simulated_annealing.gif</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Simulated Annealing (2)</a:t>
            </a:r>
          </a:p>
        </p:txBody>
      </p:sp>
      <p:sp>
        <p:nvSpPr>
          <p:cNvPr id="3" name="Content Placeholder 2"/>
          <p:cNvSpPr>
            <a:spLocks noGrp="1"/>
          </p:cNvSpPr>
          <p:nvPr>
            <p:ph idx="1"/>
          </p:nvPr>
        </p:nvSpPr>
        <p:spPr/>
        <p:txBody>
          <a:bodyPr/>
          <a:lstStyle/>
          <a:p>
            <a:pPr lvl="0" indent="0" marL="0">
              <a:buNone/>
            </a:pPr>
            <a:r>
              <a:rPr/>
              <a:t>Simulated annealing’s principle of operation is this:</a:t>
            </a:r>
          </a:p>
          <a:p>
            <a:pPr lvl="0"/>
            <a:r>
              <a:rPr/>
              <a:t>Start with initial solution.</a:t>
            </a:r>
          </a:p>
          <a:p>
            <a:pPr lvl="0"/>
            <a:r>
              <a:rPr/>
              <a:t>Repeatedly propose small modifications.</a:t>
            </a:r>
          </a:p>
          <a:p>
            <a:pPr lvl="0"/>
            <a:r>
              <a:rPr/>
              <a:t>If a proposed solution is better, accept immediately.</a:t>
            </a:r>
          </a:p>
          <a:p>
            <a:pPr lvl="0"/>
            <a:r>
              <a:rPr/>
              <a:t>If it is worse, accept it with a certain probability, otherwise reject.</a:t>
            </a:r>
          </a:p>
          <a:p>
            <a:pPr lvl="0"/>
            <a:r>
              <a:rPr/>
              <a:t>Usually P(accept) = exp(-Δcost/T).</a:t>
            </a:r>
          </a:p>
          <a:p>
            <a:pPr lvl="0"/>
            <a:r>
              <a:rPr/>
              <a:t>Δcost is the change in cost of the proposed solution.</a:t>
            </a:r>
          </a:p>
          <a:p>
            <a:pPr lvl="0"/>
            <a:r>
              <a:rPr/>
              <a:t>T is temperature.</a:t>
            </a:r>
          </a:p>
          <a:p>
            <a:pPr lvl="0"/>
            <a:r>
              <a:rPr/>
              <a:t>Initially T is high to encourage </a:t>
            </a:r>
            <a:r>
              <a:rPr i="1"/>
              <a:t>exploration</a:t>
            </a:r>
            <a:r>
              <a:rPr/>
              <a:t>.</a:t>
            </a:r>
          </a:p>
          <a:p>
            <a:pPr lvl="0"/>
            <a:r>
              <a:rPr/>
              <a:t>Later T decreases, making rejection more likely, encouraging </a:t>
            </a:r>
            <a:r>
              <a:rPr i="1"/>
              <a:t>exploitation</a:t>
            </a:r>
            <a:r>
              <a:rPr/>
              <a: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Simulated Annealing (3)</a:t>
            </a:r>
          </a:p>
        </p:txBody>
      </p:sp>
      <p:sp>
        <p:nvSpPr>
          <p:cNvPr id="3" name="Content Placeholder 2"/>
          <p:cNvSpPr>
            <a:spLocks noGrp="1"/>
          </p:cNvSpPr>
          <p:nvPr>
            <p:ph idx="1"/>
          </p:nvPr>
        </p:nvSpPr>
        <p:spPr/>
        <p:txBody>
          <a:bodyPr/>
          <a:lstStyle/>
          <a:p>
            <a:pPr lvl="0" indent="0" marL="0">
              <a:buNone/>
            </a:pPr>
            <a:r>
              <a:rPr>
                <a:latin typeface="Courier"/>
              </a:rPr>
              <a:t>undoredo</a:t>
            </a:r>
            <a:r>
              <a:rPr/>
              <a:t> has a feature useful in simulated annealing: you can call </a:t>
            </a:r>
            <a:r>
              <a:rPr>
                <a:latin typeface="Courier"/>
              </a:rPr>
              <a:t>.reset_delta()</a:t>
            </a:r>
            <a:r>
              <a:rPr/>
              <a:t> on any recorder or anything that had </a:t>
            </a:r>
            <a:r>
              <a:rPr>
                <a:latin typeface="Courier"/>
              </a:rPr>
              <a:t>Delta</a:t>
            </a:r>
            <a:r>
              <a:rPr/>
              <a:t> derived to reset the delta that is currently being recorded.</a:t>
            </a:r>
          </a:p>
          <a:p>
            <a:pPr lvl="0" indent="0" marL="0">
              <a:buNone/>
            </a:pPr>
            <a:r>
              <a:rPr/>
              <a:t>Doing so restores the state to the moment of the latest commit (basically </a:t>
            </a:r>
            <a:r>
              <a:rPr>
                <a:latin typeface="Courier"/>
              </a:rPr>
              <a:t>git reset --hard</a:t>
            </a:r>
            <a:r>
              <a:rPr/>
              <a:t>).</a:t>
            </a:r>
          </a:p>
          <a:p>
            <a:pPr lvl="0" indent="0" marL="0">
              <a:buNone/>
            </a:pPr>
            <a:r>
              <a:rPr/>
              <a:t>This can be used to reject candidate states without having to create any more complicated logic.</a:t>
            </a:r>
          </a:p>
          <a:p>
            <a:pPr lvl="0" indent="0">
              <a:buNone/>
            </a:pPr>
            <a:r>
              <a:rPr b="1">
                <a:solidFill>
                  <a:srgbClr val="007020"/>
                </a:solidFill>
                <a:latin typeface="Courier"/>
              </a:rPr>
              <a:t>while</a:t>
            </a:r>
            <a:r>
              <a:rPr>
                <a:latin typeface="Courier"/>
              </a:rPr>
              <a:t> temperature </a:t>
            </a:r>
            <a:r>
              <a:rPr>
                <a:solidFill>
                  <a:srgbClr val="666666"/>
                </a:solidFill>
                <a:latin typeface="Courier"/>
              </a:rPr>
              <a:t>&gt;</a:t>
            </a:r>
            <a:r>
              <a:rPr>
                <a:latin typeface="Courier"/>
              </a:rPr>
              <a:t> MIN_TEMPERATURE </a:t>
            </a:r>
            <a:r>
              <a:rPr>
                <a:solidFill>
                  <a:srgbClr val="666666"/>
                </a:solidFill>
                <a:latin typeface="Courier"/>
              </a:rPr>
              <a:t>{</a:t>
            </a:r>
            <a:br/>
            <a:r>
              <a:rPr>
                <a:latin typeface="Courier"/>
              </a:rPr>
              <a:t>    </a:t>
            </a:r>
            <a:r>
              <a:rPr b="1">
                <a:solidFill>
                  <a:srgbClr val="007020"/>
                </a:solidFill>
                <a:latin typeface="Courier"/>
              </a:rPr>
              <a:t>let</a:t>
            </a:r>
            <a:r>
              <a:rPr>
                <a:latin typeface="Courier"/>
              </a:rPr>
              <a:t> old_cost </a:t>
            </a:r>
            <a:r>
              <a:rPr>
                <a:solidFill>
                  <a:srgbClr val="666666"/>
                </a:solidFill>
                <a:latin typeface="Courier"/>
              </a:rPr>
              <a:t>=</a:t>
            </a:r>
            <a:r>
              <a:rPr>
                <a:latin typeface="Courier"/>
              </a:rPr>
              <a:t> state</a:t>
            </a:r>
            <a:r>
              <a:rPr>
                <a:solidFill>
                  <a:srgbClr val="666666"/>
                </a:solidFill>
                <a:latin typeface="Courier"/>
              </a:rPr>
              <a:t>.</a:t>
            </a:r>
            <a:r>
              <a:rPr>
                <a:latin typeface="Courier"/>
              </a:rPr>
              <a:t>cost()</a:t>
            </a:r>
            <a:r>
              <a:rPr>
                <a:solidFill>
                  <a:srgbClr val="666666"/>
                </a:solidFill>
                <a:latin typeface="Courier"/>
              </a:rPr>
              <a:t>;</a:t>
            </a:r>
            <a:br/>
            <a:br/>
            <a:r>
              <a:rPr>
                <a:latin typeface="Courier"/>
              </a:rPr>
              <a:t>    state</a:t>
            </a:r>
            <a:r>
              <a:rPr>
                <a:solidFill>
                  <a:srgbClr val="666666"/>
                </a:solidFill>
                <a:latin typeface="Courier"/>
              </a:rPr>
              <a:t>.</a:t>
            </a:r>
            <a:r>
              <a:rPr>
                <a:latin typeface="Courier"/>
              </a:rPr>
              <a:t>random_step()</a:t>
            </a:r>
            <a:r>
              <a:rPr>
                <a:solidFill>
                  <a:srgbClr val="666666"/>
                </a:solidFill>
                <a:latin typeface="Courier"/>
              </a:rPr>
              <a:t>;</a:t>
            </a:r>
            <a:br/>
            <a:br/>
            <a:r>
              <a:rPr>
                <a:latin typeface="Courier"/>
              </a:rPr>
              <a:t>    </a:t>
            </a:r>
            <a:r>
              <a:rPr b="1">
                <a:solidFill>
                  <a:srgbClr val="007020"/>
                </a:solidFill>
                <a:latin typeface="Courier"/>
              </a:rPr>
              <a:t>let</a:t>
            </a:r>
            <a:r>
              <a:rPr>
                <a:latin typeface="Courier"/>
              </a:rPr>
              <a:t> delta_cost </a:t>
            </a:r>
            <a:r>
              <a:rPr>
                <a:solidFill>
                  <a:srgbClr val="666666"/>
                </a:solidFill>
                <a:latin typeface="Courier"/>
              </a:rPr>
              <a:t>=</a:t>
            </a:r>
            <a:r>
              <a:rPr>
                <a:latin typeface="Courier"/>
              </a:rPr>
              <a:t> state</a:t>
            </a:r>
            <a:r>
              <a:rPr>
                <a:solidFill>
                  <a:srgbClr val="666666"/>
                </a:solidFill>
                <a:latin typeface="Courier"/>
              </a:rPr>
              <a:t>.</a:t>
            </a:r>
            <a:r>
              <a:rPr>
                <a:latin typeface="Courier"/>
              </a:rPr>
              <a:t>cost() </a:t>
            </a:r>
            <a:r>
              <a:rPr>
                <a:solidFill>
                  <a:srgbClr val="666666"/>
                </a:solidFill>
                <a:latin typeface="Courier"/>
              </a:rPr>
              <a:t>-</a:t>
            </a:r>
            <a:r>
              <a:rPr>
                <a:latin typeface="Courier"/>
              </a:rPr>
              <a:t> old_cost</a:t>
            </a:r>
            <a:r>
              <a:rPr>
                <a:solidFill>
                  <a:srgbClr val="666666"/>
                </a:solidFill>
                <a:latin typeface="Courier"/>
              </a:rPr>
              <a:t>;</a:t>
            </a:r>
            <a:br/>
            <a:r>
              <a:rPr>
                <a:latin typeface="Courier"/>
              </a:rPr>
              <a:t>    </a:t>
            </a:r>
            <a:br/>
            <a:r>
              <a:rPr>
                <a:latin typeface="Courier"/>
              </a:rPr>
              <a:t>    </a:t>
            </a:r>
            <a:r>
              <a:rPr b="1">
                <a:solidFill>
                  <a:srgbClr val="007020"/>
                </a:solidFill>
                <a:latin typeface="Courier"/>
              </a:rPr>
              <a:t>if</a:t>
            </a:r>
            <a:r>
              <a:rPr>
                <a:latin typeface="Courier"/>
              </a:rPr>
              <a:t> delta_cost </a:t>
            </a:r>
            <a:r>
              <a:rPr>
                <a:solidFill>
                  <a:srgbClr val="666666"/>
                </a:solidFill>
                <a:latin typeface="Courier"/>
              </a:rPr>
              <a:t>&gt;=</a:t>
            </a:r>
            <a:r>
              <a:rPr>
                <a:latin typeface="Courier"/>
              </a:rPr>
              <a:t> </a:t>
            </a:r>
            <a:r>
              <a:rPr>
                <a:solidFill>
                  <a:srgbClr val="40A070"/>
                </a:solidFill>
                <a:latin typeface="Courier"/>
              </a:rPr>
              <a:t>0.0</a:t>
            </a:r>
            <a:r>
              <a:rPr>
                <a:latin typeface="Courier"/>
              </a:rPr>
              <a:t> </a:t>
            </a:r>
            <a:r>
              <a:rPr>
                <a:solidFill>
                  <a:srgbClr val="666666"/>
                </a:solidFill>
                <a:latin typeface="Courier"/>
              </a:rPr>
              <a:t>&amp;&amp;</a:t>
            </a:r>
            <a:r>
              <a:rPr>
                <a:latin typeface="Courier"/>
              </a:rPr>
              <a:t> random(</a:t>
            </a:r>
            <a:r>
              <a:rPr>
                <a:solidFill>
                  <a:srgbClr val="40A070"/>
                </a:solidFill>
                <a:latin typeface="Courier"/>
              </a:rPr>
              <a:t>0</a:t>
            </a:r>
            <a:r>
              <a:rPr>
                <a:solidFill>
                  <a:srgbClr val="666666"/>
                </a:solidFill>
                <a:latin typeface="Courier"/>
              </a:rPr>
              <a:t>,</a:t>
            </a:r>
            <a:r>
              <a:rPr>
                <a:latin typeface="Courier"/>
              </a:rPr>
              <a:t> </a:t>
            </a:r>
            <a:r>
              <a:rPr>
                <a:solidFill>
                  <a:srgbClr val="40A070"/>
                </a:solidFill>
                <a:latin typeface="Courier"/>
              </a:rPr>
              <a:t>1</a:t>
            </a:r>
            <a:r>
              <a:rPr>
                <a:latin typeface="Courier"/>
              </a:rPr>
              <a:t>) </a:t>
            </a:r>
            <a:r>
              <a:rPr>
                <a:solidFill>
                  <a:srgbClr val="666666"/>
                </a:solidFill>
                <a:latin typeface="Courier"/>
              </a:rPr>
              <a:t>&lt;</a:t>
            </a:r>
            <a:r>
              <a:rPr>
                <a:latin typeface="Courier"/>
              </a:rPr>
              <a:t> (</a:t>
            </a:r>
            <a:r>
              <a:rPr>
                <a:solidFill>
                  <a:srgbClr val="666666"/>
                </a:solidFill>
                <a:latin typeface="Courier"/>
              </a:rPr>
              <a:t>-</a:t>
            </a:r>
            <a:r>
              <a:rPr>
                <a:latin typeface="Courier"/>
              </a:rPr>
              <a:t>delta_cost </a:t>
            </a:r>
            <a:r>
              <a:rPr>
                <a:solidFill>
                  <a:srgbClr val="666666"/>
                </a:solidFill>
                <a:latin typeface="Courier"/>
              </a:rPr>
              <a:t>-</a:t>
            </a:r>
            <a:r>
              <a:rPr>
                <a:latin typeface="Courier"/>
              </a:rPr>
              <a:t> temperature)</a:t>
            </a:r>
            <a:r>
              <a:rPr>
                <a:solidFill>
                  <a:srgbClr val="666666"/>
                </a:solidFill>
                <a:latin typeface="Courier"/>
              </a:rPr>
              <a:t>.</a:t>
            </a:r>
            <a:r>
              <a:rPr>
                <a:latin typeface="Courier"/>
              </a:rPr>
              <a:t>exp() </a:t>
            </a:r>
            <a:r>
              <a:rPr>
                <a:solidFill>
                  <a:srgbClr val="666666"/>
                </a:solidFill>
                <a:latin typeface="Courier"/>
              </a:rPr>
              <a:t>{</a:t>
            </a:r>
            <a:br/>
            <a:r>
              <a:rPr>
                <a:latin typeface="Courier"/>
              </a:rPr>
              <a:t>        </a:t>
            </a:r>
            <a:r>
              <a:rPr i="1">
                <a:solidFill>
                  <a:srgbClr val="60A0B0"/>
                </a:solidFill>
                <a:latin typeface="Courier"/>
              </a:rPr>
              <a:t>// `undoredo` is used here!</a:t>
            </a:r>
            <a:br/>
            <a:r>
              <a:rPr>
                <a:latin typeface="Courier"/>
              </a:rPr>
              <a:t>        </a:t>
            </a:r>
            <a:r>
              <a:rPr i="1">
                <a:solidFill>
                  <a:srgbClr val="60A0B0"/>
                </a:solidFill>
                <a:latin typeface="Courier"/>
              </a:rPr>
              <a:t>// Worse state is rejected by calling `.reset_delta()`.</a:t>
            </a:r>
            <a:br/>
            <a:r>
              <a:rPr>
                <a:latin typeface="Courier"/>
              </a:rPr>
              <a:t>        state</a:t>
            </a:r>
            <a:r>
              <a:rPr>
                <a:solidFill>
                  <a:srgbClr val="666666"/>
                </a:solidFill>
                <a:latin typeface="Courier"/>
              </a:rPr>
              <a:t>.</a:t>
            </a:r>
            <a:r>
              <a:rPr>
                <a:latin typeface="Courier"/>
              </a:rPr>
              <a:t>reset_delta()</a:t>
            </a:r>
            <a:r>
              <a:rPr>
                <a:solidFill>
                  <a:srgbClr val="666666"/>
                </a:solidFill>
                <a:latin typeface="Courier"/>
              </a:rPr>
              <a:t>;</a:t>
            </a:r>
            <a:br/>
            <a:r>
              <a:rPr>
                <a:latin typeface="Courier"/>
              </a:rPr>
              <a:t>    </a:t>
            </a:r>
            <a:r>
              <a:rPr>
                <a:solidFill>
                  <a:srgbClr val="666666"/>
                </a:solidFill>
                <a:latin typeface="Courier"/>
              </a:rPr>
              <a:t>}</a:t>
            </a:r>
            <a:br/>
            <a:br/>
            <a:r>
              <a:rPr>
                <a:latin typeface="Courier"/>
              </a:rPr>
              <a:t>    temperature </a:t>
            </a:r>
            <a:r>
              <a:rPr>
                <a:solidFill>
                  <a:srgbClr val="666666"/>
                </a:solidFill>
                <a:latin typeface="Courier"/>
              </a:rPr>
              <a:t>*=</a:t>
            </a:r>
            <a:r>
              <a:rPr>
                <a:latin typeface="Courier"/>
              </a:rPr>
              <a:t> COOLDOWN_RATE</a:t>
            </a:r>
            <a:r>
              <a:rPr>
                <a:solidFill>
                  <a:srgbClr val="666666"/>
                </a:solidFill>
                <a:latin typeface="Courier"/>
              </a:rPr>
              <a:t>;</a:t>
            </a:r>
            <a:br/>
            <a:r>
              <a:rPr>
                <a:solidFill>
                  <a:srgbClr val="666666"/>
                </a:solidFill>
                <a:latin typeface="Courier"/>
              </a:rPr>
              <a:t>}</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t>
            </a:r>
          </a:p>
        </p:txBody>
      </p:sp>
      <p:pic>
        <p:nvPicPr>
          <p:cNvPr descr="simulated_annealing_demo.gif" id="0" name="Picture 1"/>
          <p:cNvPicPr>
            <a:picLocks noGrp="1" noChangeAspect="1"/>
          </p:cNvPicPr>
          <p:nvPr/>
        </p:nvPicPr>
        <p:blipFill>
          <a:blip r:embed="rId2"/>
          <a:stretch>
            <a:fillRect/>
          </a:stretch>
        </p:blipFill>
        <p:spPr bwMode="auto">
          <a:xfrm>
            <a:off x="3302000" y="1193800"/>
            <a:ext cx="2540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simulated_annealing_demo.gif</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Future plans</a:t>
            </a:r>
          </a:p>
        </p:txBody>
      </p:sp>
      <p:sp>
        <p:nvSpPr>
          <p:cNvPr id="3" name="Content Placeholder 2"/>
          <p:cNvSpPr>
            <a:spLocks noGrp="1"/>
          </p:cNvSpPr>
          <p:nvPr>
            <p:ph idx="1"/>
          </p:nvPr>
        </p:nvSpPr>
        <p:spPr/>
        <p:txBody>
          <a:bodyPr/>
          <a:lstStyle/>
          <a:p>
            <a:pPr lvl="0"/>
            <a:r>
              <a:rPr/>
              <a:t>Undo-redo over databases: integration with </a:t>
            </a:r>
            <a:r>
              <a:rPr>
                <a:latin typeface="Courier"/>
              </a:rPr>
              <a:t>diesel</a:t>
            </a:r>
            <a:r>
              <a:rPr/>
              <a:t>, </a:t>
            </a:r>
            <a:r>
              <a:rPr>
                <a:latin typeface="Courier"/>
              </a:rPr>
              <a:t>sled</a:t>
            </a:r>
            <a:r>
              <a:rPr/>
              <a:t>.</a:t>
            </a:r>
          </a:p>
          <a:p>
            <a:pPr lvl="0"/>
            <a:r>
              <a:rPr/>
              <a:t>Non-linear history – tree instead of bistack.</a:t>
            </a:r>
          </a:p>
          <a:p>
            <a:pPr lvl="0"/>
            <a:r>
              <a:rPr/>
              <a:t>Temporary, non-persistent history in cyclic buffer.</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end</a:t>
            </a:r>
          </a:p>
        </p:txBody>
      </p:sp>
      <p:sp>
        <p:nvSpPr>
          <p:cNvPr id="3" name="Content Placeholder 2"/>
          <p:cNvSpPr>
            <a:spLocks noGrp="1"/>
          </p:cNvSpPr>
          <p:nvPr>
            <p:ph idx="1"/>
          </p:nvPr>
        </p:nvSpPr>
        <p:spPr/>
        <p:txBody>
          <a:bodyPr/>
          <a:lstStyle/>
          <a:p>
            <a:pPr lvl="0" indent="0" marL="0">
              <a:buNone/>
            </a:pPr>
            <a:r>
              <a:rPr/>
              <a:t>Thanks for watching!</a:t>
            </a:r>
          </a:p>
          <a:p>
            <a:pPr lvl="0"/>
            <a:r>
              <a:rPr/>
              <a:t>Repository: https://github.com/mikwielgus/undoredo</a:t>
            </a:r>
          </a:p>
          <a:p>
            <a:pPr lvl="0"/>
            <a:r>
              <a:rPr/>
              <a:t>Crates.io: https://crates.io/crates/undoredo</a:t>
            </a:r>
          </a:p>
          <a:p>
            <a:pPr lvl="0"/>
            <a:r>
              <a:rPr/>
              <a:t>Presentation: https://github.com/mikwielgus/rustmeet2026-undoredo</a:t>
            </a:r>
          </a:p>
          <a:p>
            <a:pPr lvl="0"/>
            <a:r>
              <a:rPr/>
              <a:t>Topola: https://topola.dev/</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undoredo - Undo/Redo in Rust using deltas, snapshots or commands with convenience implementations for many standard and third-party types.</dc:title>
  <dc:creator>Mikołaj Wielgus</dc:creator>
  <cp:keywords/>
  <dcterms:created xsi:type="dcterms:W3CDTF">1980-01-01T00:00:00Z</dcterms:created>
  <dcterms:modified xsi:type="dcterms:W3CDTF">1980-01-01T00:00:00Z</dcterms:modified>
</cp:coreProperties>
</file>

<file path=docProps/custom.xml><?xml version="1.0" encoding="utf-8"?>
<Properties xmlns="http://schemas.openxmlformats.org/officeDocument/2006/custom-properties" xmlns:vt="http://schemas.openxmlformats.org/officeDocument/2006/docPropsVTypes"/>
</file>